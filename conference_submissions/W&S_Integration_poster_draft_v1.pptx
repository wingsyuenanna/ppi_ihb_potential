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
  </p:notesMasterIdLst>
  <p:sldIdLst>
    <p:sldId id="256" r:id="rId2"/>
  </p:sldIdLst>
  <p:sldSz cx="30275213" cy="427942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6EEF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94"/>
    <p:restoredTop sz="82151"/>
  </p:normalViewPr>
  <p:slideViewPr>
    <p:cSldViewPr snapToGrid="0">
      <p:cViewPr>
        <p:scale>
          <a:sx n="66" d="100"/>
          <a:sy n="66" d="100"/>
        </p:scale>
        <p:origin x="360" y="-118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105A6B-C10A-A743-9E4C-A5204EC6536D}" type="datetimeFigureOut">
              <a:rPr lang="en-US" smtClean="0"/>
              <a:t>8/10/26</a:t>
            </a:fld>
            <a:endParaRPr lang="en-US"/>
          </a:p>
        </p:txBody>
      </p:sp>
      <p:sp>
        <p:nvSpPr>
          <p:cNvPr id="4" name="Slide Image Placeholder 3"/>
          <p:cNvSpPr>
            <a:spLocks noGrp="1" noRot="1" noChangeAspect="1"/>
          </p:cNvSpPr>
          <p:nvPr>
            <p:ph type="sldImg" idx="2"/>
          </p:nvPr>
        </p:nvSpPr>
        <p:spPr>
          <a:xfrm>
            <a:off x="2336800" y="1143000"/>
            <a:ext cx="2184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C83CB1-55CD-F548-8C18-32137261C24C}" type="slidenum">
              <a:rPr lang="en-US" smtClean="0"/>
              <a:t>‹#›</a:t>
            </a:fld>
            <a:endParaRPr lang="en-US"/>
          </a:p>
        </p:txBody>
      </p:sp>
    </p:spTree>
    <p:extLst>
      <p:ext uri="{BB962C8B-B14F-4D97-AF65-F5344CB8AC3E}">
        <p14:creationId xmlns:p14="http://schemas.microsoft.com/office/powerpoint/2010/main" val="3348707393"/>
      </p:ext>
    </p:extLst>
  </p:cSld>
  <p:clrMap bg1="lt1" tx1="dk1" bg2="lt2" tx2="dk2" accent1="accent1" accent2="accent2" accent3="accent3" accent4="accent4" accent5="accent5" accent6="accent6" hlink="hlink" folHlink="folHlink"/>
  <p:notesStyle>
    <a:lvl1pPr marL="0" algn="l" defTabSz="3507273" rtl="0" eaLnBrk="1" latinLnBrk="0" hangingPunct="1">
      <a:defRPr sz="4603" kern="1200">
        <a:solidFill>
          <a:schemeClr val="tx1"/>
        </a:solidFill>
        <a:latin typeface="+mn-lt"/>
        <a:ea typeface="+mn-ea"/>
        <a:cs typeface="+mn-cs"/>
      </a:defRPr>
    </a:lvl1pPr>
    <a:lvl2pPr marL="1753636" algn="l" defTabSz="3507273" rtl="0" eaLnBrk="1" latinLnBrk="0" hangingPunct="1">
      <a:defRPr sz="4603" kern="1200">
        <a:solidFill>
          <a:schemeClr val="tx1"/>
        </a:solidFill>
        <a:latin typeface="+mn-lt"/>
        <a:ea typeface="+mn-ea"/>
        <a:cs typeface="+mn-cs"/>
      </a:defRPr>
    </a:lvl2pPr>
    <a:lvl3pPr marL="3507273" algn="l" defTabSz="3507273" rtl="0" eaLnBrk="1" latinLnBrk="0" hangingPunct="1">
      <a:defRPr sz="4603" kern="1200">
        <a:solidFill>
          <a:schemeClr val="tx1"/>
        </a:solidFill>
        <a:latin typeface="+mn-lt"/>
        <a:ea typeface="+mn-ea"/>
        <a:cs typeface="+mn-cs"/>
      </a:defRPr>
    </a:lvl3pPr>
    <a:lvl4pPr marL="5260909" algn="l" defTabSz="3507273" rtl="0" eaLnBrk="1" latinLnBrk="0" hangingPunct="1">
      <a:defRPr sz="4603" kern="1200">
        <a:solidFill>
          <a:schemeClr val="tx1"/>
        </a:solidFill>
        <a:latin typeface="+mn-lt"/>
        <a:ea typeface="+mn-ea"/>
        <a:cs typeface="+mn-cs"/>
      </a:defRPr>
    </a:lvl4pPr>
    <a:lvl5pPr marL="7014545" algn="l" defTabSz="3507273" rtl="0" eaLnBrk="1" latinLnBrk="0" hangingPunct="1">
      <a:defRPr sz="4603" kern="1200">
        <a:solidFill>
          <a:schemeClr val="tx1"/>
        </a:solidFill>
        <a:latin typeface="+mn-lt"/>
        <a:ea typeface="+mn-ea"/>
        <a:cs typeface="+mn-cs"/>
      </a:defRPr>
    </a:lvl5pPr>
    <a:lvl6pPr marL="8768182" algn="l" defTabSz="3507273" rtl="0" eaLnBrk="1" latinLnBrk="0" hangingPunct="1">
      <a:defRPr sz="4603" kern="1200">
        <a:solidFill>
          <a:schemeClr val="tx1"/>
        </a:solidFill>
        <a:latin typeface="+mn-lt"/>
        <a:ea typeface="+mn-ea"/>
        <a:cs typeface="+mn-cs"/>
      </a:defRPr>
    </a:lvl6pPr>
    <a:lvl7pPr marL="10521818" algn="l" defTabSz="3507273" rtl="0" eaLnBrk="1" latinLnBrk="0" hangingPunct="1">
      <a:defRPr sz="4603" kern="1200">
        <a:solidFill>
          <a:schemeClr val="tx1"/>
        </a:solidFill>
        <a:latin typeface="+mn-lt"/>
        <a:ea typeface="+mn-ea"/>
        <a:cs typeface="+mn-cs"/>
      </a:defRPr>
    </a:lvl7pPr>
    <a:lvl8pPr marL="12275454" algn="l" defTabSz="3507273" rtl="0" eaLnBrk="1" latinLnBrk="0" hangingPunct="1">
      <a:defRPr sz="4603" kern="1200">
        <a:solidFill>
          <a:schemeClr val="tx1"/>
        </a:solidFill>
        <a:latin typeface="+mn-lt"/>
        <a:ea typeface="+mn-ea"/>
        <a:cs typeface="+mn-cs"/>
      </a:defRPr>
    </a:lvl8pPr>
    <a:lvl9pPr marL="14029091" algn="l" defTabSz="3507273" rtl="0" eaLnBrk="1" latinLnBrk="0" hangingPunct="1">
      <a:defRPr sz="4603"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028700" lvl="1" indent="-571500">
              <a:buFont typeface="Arial" panose="020B0604020202020204" pitchFamily="34" charset="0"/>
              <a:buChar char="•"/>
            </a:pPr>
            <a:r>
              <a:rPr lang="en-US" sz="4603" b="0" i="0" kern="1200" dirty="0">
                <a:solidFill>
                  <a:schemeClr val="tx1"/>
                </a:solidFill>
                <a:effectLst/>
                <a:latin typeface="+mn-lt"/>
                <a:ea typeface="+mn-ea"/>
                <a:cs typeface="+mn-cs"/>
              </a:rPr>
              <a:t>Germany, Netherlands, France are countries with large amount of heat demands and is moderately suitable for off-grid solar plus storage with below gas prices majority heat demand.</a:t>
            </a:r>
          </a:p>
          <a:p>
            <a:pPr marL="1028700" lvl="1" indent="-571500">
              <a:buFont typeface="Arial" panose="020B0604020202020204" pitchFamily="34" charset="0"/>
              <a:buChar char="•"/>
            </a:pPr>
            <a:r>
              <a:rPr lang="en-US" sz="4603" b="0" i="0" kern="1200" dirty="0">
                <a:solidFill>
                  <a:schemeClr val="tx1"/>
                </a:solidFill>
                <a:effectLst/>
                <a:latin typeface="+mn-lt"/>
                <a:ea typeface="+mn-ea"/>
                <a:cs typeface="+mn-cs"/>
              </a:rPr>
              <a:t>Southern European countries, Greece, Spain, Italy and Portugal, are the most suited for this solution with around half of the gas cost and greater than 90% heat demand covered. They have industrial facilities that have lower heat demand. </a:t>
            </a:r>
          </a:p>
          <a:p>
            <a:pPr marL="1028700" lvl="1" indent="-571500">
              <a:buFont typeface="Arial" panose="020B0604020202020204" pitchFamily="34" charset="0"/>
              <a:buChar char="•"/>
            </a:pPr>
            <a:r>
              <a:rPr lang="en-US" sz="4603" b="0" i="0" kern="1200" dirty="0">
                <a:solidFill>
                  <a:schemeClr val="tx1"/>
                </a:solidFill>
                <a:effectLst/>
                <a:latin typeface="+mn-lt"/>
                <a:ea typeface="+mn-ea"/>
                <a:cs typeface="+mn-cs"/>
              </a:rPr>
              <a:t>For high temperature processes, even though it cannot be fully decarbonized, this package provides a solution that can decarbonize a high percentage of heat demand. </a:t>
            </a:r>
          </a:p>
          <a:p>
            <a:pPr marL="1028700" lvl="1" indent="-571500">
              <a:buFont typeface="Arial" panose="020B0604020202020204" pitchFamily="34" charset="0"/>
              <a:buChar char="•"/>
            </a:pPr>
            <a:r>
              <a:rPr lang="en-US" sz="4603" b="0" i="0" kern="1200" dirty="0">
                <a:solidFill>
                  <a:schemeClr val="tx1"/>
                </a:solidFill>
                <a:effectLst/>
                <a:latin typeface="+mn-lt"/>
                <a:ea typeface="+mn-ea"/>
                <a:cs typeface="+mn-cs"/>
              </a:rPr>
              <a:t>implementing on-site decarbonized solutions can help alleviate local grid electricity constraints and be less dependent on gas power plants. This can minimize expensive grid updates and volatile natural gas prices. It is a high potential solution to allow faster decarbonization and cheaper heat.  </a:t>
            </a:r>
          </a:p>
          <a:p>
            <a:pPr marL="1028700" lvl="1" indent="-571500">
              <a:buFont typeface="Arial" panose="020B0604020202020204" pitchFamily="34" charset="0"/>
              <a:buChar char="•"/>
            </a:pPr>
            <a:endParaRPr lang="en-US" sz="4603" b="0" i="0" kern="1200" dirty="0">
              <a:solidFill>
                <a:schemeClr val="tx1"/>
              </a:solidFill>
              <a:effectLst/>
              <a:latin typeface="+mn-lt"/>
              <a:ea typeface="+mn-ea"/>
              <a:cs typeface="+mn-cs"/>
            </a:endParaRPr>
          </a:p>
          <a:p>
            <a:pPr marL="1028700" lvl="1" indent="-571500">
              <a:buFont typeface="Arial" panose="020B0604020202020204" pitchFamily="34" charset="0"/>
              <a:buChar char="•"/>
            </a:pPr>
            <a:endParaRPr lang="en-US" sz="4603" b="0" i="0" kern="1200" dirty="0">
              <a:solidFill>
                <a:schemeClr val="tx1"/>
              </a:solidFill>
              <a:effectLst/>
              <a:latin typeface="+mn-lt"/>
              <a:ea typeface="+mn-ea"/>
              <a:cs typeface="+mn-cs"/>
            </a:endParaRPr>
          </a:p>
          <a:p>
            <a:pPr marL="1028700" lvl="1" indent="-571500">
              <a:buFont typeface="Arial" panose="020B0604020202020204" pitchFamily="34" charset="0"/>
              <a:buChar char="•"/>
            </a:pPr>
            <a:r>
              <a:rPr lang="en-US" sz="4603" b="0" i="0" kern="1200" dirty="0">
                <a:solidFill>
                  <a:schemeClr val="tx1"/>
                </a:solidFill>
                <a:effectLst/>
                <a:latin typeface="+mn-lt"/>
                <a:ea typeface="+mn-ea"/>
                <a:cs typeface="+mn-cs"/>
              </a:rPr>
              <a:t>Land availability, not cost, is the main factor in achieving decarbonized heat generation solutions for EU’s industrial manufacturing. </a:t>
            </a:r>
          </a:p>
          <a:p>
            <a:pPr marL="1028700" lvl="1" indent="-571500">
              <a:buFont typeface="Arial" panose="020B0604020202020204" pitchFamily="34" charset="0"/>
              <a:buChar char="•"/>
            </a:pPr>
            <a:r>
              <a:rPr lang="en-US" sz="4603" b="0" i="0" kern="1200" dirty="0">
                <a:solidFill>
                  <a:schemeClr val="tx1"/>
                </a:solidFill>
                <a:effectLst/>
                <a:latin typeface="+mn-lt"/>
                <a:ea typeface="+mn-ea"/>
                <a:cs typeface="+mn-cs"/>
              </a:rPr>
              <a:t>The highest temperature processes (petroleum steam cracking, iron &amp; steel and </a:t>
            </a:r>
            <a:r>
              <a:rPr lang="en-US" sz="4603" b="0" i="0" kern="1200" dirty="0" err="1">
                <a:solidFill>
                  <a:schemeClr val="tx1"/>
                </a:solidFill>
                <a:effectLst/>
                <a:latin typeface="+mn-lt"/>
                <a:ea typeface="+mn-ea"/>
                <a:cs typeface="+mn-cs"/>
              </a:rPr>
              <a:t>aluminium</a:t>
            </a:r>
            <a:r>
              <a:rPr lang="en-US" sz="4603" b="0" i="0" kern="1200" dirty="0">
                <a:solidFill>
                  <a:schemeClr val="tx1"/>
                </a:solidFill>
                <a:effectLst/>
                <a:latin typeface="+mn-lt"/>
                <a:ea typeface="+mn-ea"/>
                <a:cs typeface="+mn-cs"/>
              </a:rPr>
              <a:t>) have the highest increase in share of sector process heat below gas prices from 5km to 15km. </a:t>
            </a:r>
          </a:p>
          <a:p>
            <a:pPr marL="1028700" lvl="1" indent="-571500">
              <a:buFont typeface="Arial" panose="020B0604020202020204" pitchFamily="34" charset="0"/>
              <a:buChar char="•"/>
            </a:pPr>
            <a:r>
              <a:rPr lang="en-US" sz="4603" b="0" i="0" kern="1200" dirty="0">
                <a:solidFill>
                  <a:schemeClr val="tx1"/>
                </a:solidFill>
                <a:effectLst/>
                <a:latin typeface="+mn-lt"/>
                <a:ea typeface="+mn-ea"/>
                <a:cs typeface="+mn-cs"/>
              </a:rPr>
              <a:t>Countries with high demand with high temperature manufacturing such as Germany, France and Netherlands (industrial belt) saw a high increase in decarbonized heat shares. The industrial belt contains many heat intense manufacturing such as steam cracking and iron &amp; steel manufacturing with relatively built-up land and river constraint. With low land availability and high heat demand, this region is only able to achieve substantial heat generation availability with 15km. </a:t>
            </a:r>
          </a:p>
          <a:p>
            <a:pPr marL="1028700" lvl="1" indent="-571500">
              <a:buFont typeface="Arial" panose="020B0604020202020204" pitchFamily="34" charset="0"/>
              <a:buChar char="•"/>
            </a:pPr>
            <a:r>
              <a:rPr lang="en-US" sz="4603" b="0" i="0" kern="1200" dirty="0">
                <a:solidFill>
                  <a:schemeClr val="tx1"/>
                </a:solidFill>
                <a:effectLst/>
                <a:latin typeface="+mn-lt"/>
                <a:ea typeface="+mn-ea"/>
                <a:cs typeface="+mn-cs"/>
              </a:rPr>
              <a:t>The Country trade-off scatterplots show the increase in countries that can meet 90% availability at under gas costs increases dramatically from 5km to 15km.</a:t>
            </a:r>
          </a:p>
          <a:p>
            <a:pPr marL="1028700" lvl="1" indent="-571500">
              <a:buFont typeface="Arial" panose="020B0604020202020204" pitchFamily="34" charset="0"/>
              <a:buChar char="•"/>
            </a:pPr>
            <a:endParaRPr lang="en-US" sz="4603" b="0" i="0" kern="1200" dirty="0">
              <a:solidFill>
                <a:schemeClr val="tx1"/>
              </a:solidFill>
              <a:effectLst/>
              <a:latin typeface="+mn-lt"/>
              <a:ea typeface="+mn-ea"/>
              <a:cs typeface="+mn-cs"/>
            </a:endParaRPr>
          </a:p>
          <a:p>
            <a:pPr marL="1028700" lvl="1" indent="-571500">
              <a:buFont typeface="Arial" panose="020B0604020202020204" pitchFamily="34" charset="0"/>
              <a:buChar char="•"/>
            </a:pPr>
            <a:r>
              <a:rPr lang="en-US" sz="4603" b="0" i="0" kern="1200" dirty="0">
                <a:solidFill>
                  <a:schemeClr val="tx1"/>
                </a:solidFill>
                <a:effectLst/>
                <a:latin typeface="+mn-lt"/>
                <a:ea typeface="+mn-ea"/>
                <a:cs typeface="+mn-cs"/>
              </a:rPr>
              <a:t>With 5km, the southern European countries could meet high percentage of availability (&gt;70%) but countries with larger shares of heat demand like Germany or France can only meet around 50% and 70% respectively. With 15km, Germany, France and Netherlands are all above 70%. </a:t>
            </a:r>
          </a:p>
          <a:p>
            <a:pPr marL="1028700" lvl="1" indent="-571500">
              <a:buFont typeface="Arial" panose="020B0604020202020204" pitchFamily="34" charset="0"/>
              <a:buChar char="•"/>
            </a:pPr>
            <a:endParaRPr lang="en-US" sz="4603" b="0" i="0" kern="1200" dirty="0">
              <a:solidFill>
                <a:schemeClr val="tx1"/>
              </a:solidFill>
              <a:effectLst/>
              <a:latin typeface="+mn-lt"/>
              <a:ea typeface="+mn-ea"/>
              <a:cs typeface="+mn-cs"/>
            </a:endParaRPr>
          </a:p>
          <a:p>
            <a:pPr marL="1028700" lvl="1" indent="-571500">
              <a:buFont typeface="Arial" panose="020B0604020202020204" pitchFamily="34" charset="0"/>
              <a:buChar char="•"/>
            </a:pPr>
            <a:r>
              <a:rPr lang="en-US" sz="4603" b="0" i="0" kern="1200" dirty="0">
                <a:solidFill>
                  <a:schemeClr val="tx1"/>
                </a:solidFill>
                <a:effectLst/>
                <a:latin typeface="+mn-lt"/>
                <a:ea typeface="+mn-ea"/>
                <a:cs typeface="+mn-cs"/>
              </a:rPr>
              <a:t>Gas prices here are the boiler-delivered heat costs (</a:t>
            </a:r>
            <a:r>
              <a:rPr lang="en-US" sz="4603" b="0" i="0" kern="1200" dirty="0" err="1">
                <a:solidFill>
                  <a:schemeClr val="tx1"/>
                </a:solidFill>
                <a:effectLst/>
                <a:latin typeface="+mn-lt"/>
                <a:ea typeface="+mn-ea"/>
                <a:cs typeface="+mn-cs"/>
              </a:rPr>
              <a:t>gas_heat_cost_eur_mwh</a:t>
            </a:r>
            <a:r>
              <a:rPr lang="en-US" sz="4603" b="0" i="0" kern="1200" dirty="0">
                <a:solidFill>
                  <a:schemeClr val="tx1"/>
                </a:solidFill>
                <a:effectLst/>
                <a:latin typeface="+mn-lt"/>
                <a:ea typeface="+mn-ea"/>
                <a:cs typeface="+mn-cs"/>
              </a:rPr>
              <a:t> = gas price / 0.85 + EUA), not raw commodity €/MWh.</a:t>
            </a:r>
            <a:endParaRPr lang="en-AU" sz="3600" dirty="0">
              <a:solidFill>
                <a:schemeClr val="tx1"/>
              </a:solidFill>
            </a:endParaRPr>
          </a:p>
          <a:p>
            <a:pPr marL="1028700" lvl="1" indent="-571500">
              <a:buFont typeface="Arial" panose="020B0604020202020204" pitchFamily="34" charset="0"/>
              <a:buChar char="•"/>
            </a:pPr>
            <a:endParaRPr lang="en-AU" sz="3600" dirty="0">
              <a:solidFill>
                <a:schemeClr val="tx1"/>
              </a:solidFill>
            </a:endParaRPr>
          </a:p>
          <a:p>
            <a:pPr marL="1028700" lvl="1" indent="-571500">
              <a:buFont typeface="Arial" panose="020B0604020202020204" pitchFamily="34" charset="0"/>
              <a:buChar char="•"/>
            </a:pPr>
            <a:r>
              <a:rPr lang="en-AU" sz="3600" dirty="0">
                <a:solidFill>
                  <a:schemeClr val="tx1"/>
                </a:solidFill>
              </a:rPr>
              <a:t>Industrial process heat accounts for three quarters of industrial greenhouse-gas emissions in the European Union (EU) and has been recognized as a requirement to achieve net zero emissions[1]. </a:t>
            </a:r>
          </a:p>
          <a:p>
            <a:pPr marL="1028700" lvl="1" indent="-571500">
              <a:buFont typeface="Arial" panose="020B0604020202020204" pitchFamily="34" charset="0"/>
              <a:buChar char="•"/>
            </a:pPr>
            <a:r>
              <a:rPr lang="en-AU" sz="3600" dirty="0">
                <a:solidFill>
                  <a:schemeClr val="tx1"/>
                </a:solidFill>
              </a:rPr>
              <a:t>Different technologies are already available to electrify process heat in different temperature heat bands such as heat pumps, industrial heat batteries.</a:t>
            </a:r>
          </a:p>
          <a:p>
            <a:pPr marL="1028700" lvl="1" indent="-571500">
              <a:buFont typeface="Arial" panose="020B0604020202020204" pitchFamily="34" charset="0"/>
              <a:buChar char="•"/>
            </a:pPr>
            <a:r>
              <a:rPr lang="en-AU" sz="3600" dirty="0">
                <a:solidFill>
                  <a:schemeClr val="tx1"/>
                </a:solidFill>
              </a:rPr>
              <a:t>Utilizing renewable generation for electrification allows for EU to use its own resources and tackle its high exposed vulnerability in fuel import dependence [2]. </a:t>
            </a:r>
          </a:p>
          <a:p>
            <a:pPr marL="1028700" lvl="1" indent="-571500">
              <a:buFont typeface="Arial" panose="020B0604020202020204" pitchFamily="34" charset="0"/>
              <a:buChar char="•"/>
            </a:pPr>
            <a:r>
              <a:rPr lang="en-AU" sz="3600" dirty="0">
                <a:solidFill>
                  <a:schemeClr val="tx1"/>
                </a:solidFill>
              </a:rPr>
              <a:t>Critical barriers to electrifying industrial heat include high electricity grid prices relative to gas [3] and long lead times to connect to the electricity grid[4]. </a:t>
            </a:r>
          </a:p>
          <a:p>
            <a:pPr marL="1028700" lvl="1" indent="-571500">
              <a:buFont typeface="Arial" panose="020B0604020202020204" pitchFamily="34" charset="0"/>
              <a:buChar char="•"/>
            </a:pPr>
            <a:r>
              <a:rPr lang="en-AU" sz="3600" dirty="0">
                <a:solidFill>
                  <a:schemeClr val="tx1"/>
                </a:solidFill>
              </a:rPr>
              <a:t>Using off-grid solar to power heat pumps and industrial heat batteries can be a potential solution to bring electricity price down and increase speed to power.</a:t>
            </a:r>
          </a:p>
          <a:p>
            <a:pPr marL="457200" lvl="1" indent="0">
              <a:buFont typeface="Arial" panose="020B0604020202020204" pitchFamily="34" charset="0"/>
              <a:buNone/>
            </a:pPr>
            <a:r>
              <a:rPr lang="en-AU" sz="3600" dirty="0">
                <a:solidFill>
                  <a:schemeClr val="tx1"/>
                </a:solidFill>
              </a:rPr>
              <a:t>Gas boiler delivered heat cost assuming 0.85 efficiency</a:t>
            </a:r>
          </a:p>
          <a:p>
            <a:pPr marL="457200" indent="-457200">
              <a:buFont typeface="Arial" panose="020B0604020202020204" pitchFamily="34" charset="0"/>
              <a:buChar char="•"/>
            </a:pPr>
            <a:r>
              <a:rPr lang="en-US" sz="3200" dirty="0">
                <a:solidFill>
                  <a:schemeClr val="tx1"/>
                </a:solidFill>
              </a:rPr>
              <a:t>Limitations:</a:t>
            </a:r>
          </a:p>
          <a:p>
            <a:pPr marL="914400" lvl="1" indent="-457200">
              <a:buFont typeface="Arial" panose="020B0604020202020204" pitchFamily="34" charset="0"/>
              <a:buChar char="•"/>
            </a:pPr>
            <a:r>
              <a:rPr lang="en-US" sz="3200" dirty="0">
                <a:solidFill>
                  <a:schemeClr val="tx1"/>
                </a:solidFill>
              </a:rPr>
              <a:t>Heat demand estimates are benchmarked at the country and sector-level but they are not from the facility sources themselves. There is a +- 50% in the estimates for process heat depending on the types of technologies that each facility uses. Sensitivity analysis is conducted to show that the increase and decrease in heat demand based on the changes in coefficients in the equations do not change the results meaningfully. </a:t>
            </a:r>
          </a:p>
          <a:p>
            <a:pPr marL="914400" lvl="1" indent="-457200">
              <a:buFont typeface="Arial" panose="020B0604020202020204" pitchFamily="34" charset="0"/>
              <a:buChar char="•"/>
            </a:pPr>
            <a:r>
              <a:rPr lang="en-US" sz="3200" dirty="0">
                <a:solidFill>
                  <a:schemeClr val="tx1"/>
                </a:solidFill>
              </a:rPr>
              <a:t>Land availability has only been modeled based on land classified. The regional regulations and land permitting process are out of the scope of this research.</a:t>
            </a:r>
          </a:p>
          <a:p>
            <a:pPr marL="914400" lvl="1" indent="-457200">
              <a:buFont typeface="Arial" panose="020B0604020202020204" pitchFamily="34" charset="0"/>
              <a:buChar char="•"/>
            </a:pPr>
            <a:r>
              <a:rPr lang="en-US" sz="3200" dirty="0" err="1">
                <a:solidFill>
                  <a:schemeClr val="tx1"/>
                </a:solidFill>
              </a:rPr>
              <a:t>Flatblock</a:t>
            </a:r>
            <a:r>
              <a:rPr lang="en-US" sz="3200" dirty="0">
                <a:solidFill>
                  <a:schemeClr val="tx1"/>
                </a:solidFill>
              </a:rPr>
              <a:t> load profiles are used due to the nature of constant and continuous process heat demand profiles across different sectors. </a:t>
            </a:r>
          </a:p>
          <a:p>
            <a:pPr marL="914400" lvl="1" indent="-457200">
              <a:buFont typeface="Arial" panose="020B0604020202020204" pitchFamily="34" charset="0"/>
              <a:buChar char="•"/>
            </a:pPr>
            <a:endParaRPr lang="en-US" sz="3200" dirty="0">
              <a:solidFill>
                <a:schemeClr val="tx1"/>
              </a:solidFill>
            </a:endParaRPr>
          </a:p>
          <a:p>
            <a:pPr marL="1028700" lvl="1" indent="-571500">
              <a:buFont typeface="Arial" panose="020B0604020202020204" pitchFamily="34" charset="0"/>
              <a:buChar char="•"/>
            </a:pPr>
            <a:endParaRPr lang="en-AU" sz="3600" dirty="0">
              <a:solidFill>
                <a:schemeClr val="tx1"/>
              </a:solidFill>
            </a:endParaRPr>
          </a:p>
          <a:p>
            <a:pPr marL="457200" lvl="1" indent="0">
              <a:buFont typeface="Arial" panose="020B0604020202020204" pitchFamily="34" charset="0"/>
              <a:buNone/>
            </a:pPr>
            <a:r>
              <a:rPr lang="en-AU" sz="3600" dirty="0">
                <a:solidFill>
                  <a:schemeClr val="tx1"/>
                </a:solidFill>
              </a:rPr>
              <a:t>Images</a:t>
            </a:r>
          </a:p>
          <a:p>
            <a:pPr marL="1028700" lvl="1" indent="-571500">
              <a:buFont typeface="Arial" panose="020B0604020202020204" pitchFamily="34" charset="0"/>
              <a:buChar char="•"/>
            </a:pPr>
            <a:r>
              <a:rPr lang="en-AU" sz="3600" dirty="0">
                <a:solidFill>
                  <a:schemeClr val="tx1"/>
                </a:solidFill>
              </a:rPr>
              <a:t>Introduction charts: Eurostat data graphed</a:t>
            </a:r>
          </a:p>
          <a:p>
            <a:pPr marL="1028700" lvl="1" indent="-571500">
              <a:buFont typeface="Arial" panose="020B0604020202020204" pitchFamily="34" charset="0"/>
              <a:buChar char="•"/>
            </a:pPr>
            <a:r>
              <a:rPr lang="en-AU" sz="3600" dirty="0">
                <a:solidFill>
                  <a:schemeClr val="tx1"/>
                </a:solidFill>
              </a:rPr>
              <a:t>https://</a:t>
            </a:r>
            <a:r>
              <a:rPr lang="en-AU" sz="3600" dirty="0" err="1">
                <a:solidFill>
                  <a:schemeClr val="tx1"/>
                </a:solidFill>
              </a:rPr>
              <a:t>thegigaton.substack.com</a:t>
            </a:r>
            <a:r>
              <a:rPr lang="en-AU" sz="3600" dirty="0">
                <a:solidFill>
                  <a:schemeClr val="tx1"/>
                </a:solidFill>
              </a:rPr>
              <a:t>/p/industrial-heat-pumps-hot-or-not-b81</a:t>
            </a:r>
          </a:p>
          <a:p>
            <a:pPr marL="1028700" lvl="1" indent="-571500">
              <a:buFont typeface="Arial" panose="020B0604020202020204" pitchFamily="34" charset="0"/>
              <a:buChar char="•"/>
            </a:pPr>
            <a:r>
              <a:rPr lang="en-AU" sz="3600" dirty="0">
                <a:solidFill>
                  <a:schemeClr val="tx1"/>
                </a:solidFill>
              </a:rPr>
              <a:t>Heat pump icon: &lt;a </a:t>
            </a:r>
            <a:r>
              <a:rPr lang="en-AU" sz="3600" dirty="0" err="1">
                <a:solidFill>
                  <a:schemeClr val="tx1"/>
                </a:solidFill>
              </a:rPr>
              <a:t>href</a:t>
            </a:r>
            <a:r>
              <a:rPr lang="en-AU" sz="3600" dirty="0">
                <a:solidFill>
                  <a:schemeClr val="tx1"/>
                </a:solidFill>
              </a:rPr>
              <a:t>="https://</a:t>
            </a:r>
            <a:r>
              <a:rPr lang="en-AU" sz="3600" dirty="0" err="1">
                <a:solidFill>
                  <a:schemeClr val="tx1"/>
                </a:solidFill>
              </a:rPr>
              <a:t>www.flaticon.com</a:t>
            </a:r>
            <a:r>
              <a:rPr lang="en-AU" sz="3600" dirty="0">
                <a:solidFill>
                  <a:schemeClr val="tx1"/>
                </a:solidFill>
              </a:rPr>
              <a:t>/free-icons/pump" title="pump icons"&gt;Pump icons created by </a:t>
            </a:r>
            <a:r>
              <a:rPr lang="en-AU" sz="3600" dirty="0" err="1">
                <a:solidFill>
                  <a:schemeClr val="tx1"/>
                </a:solidFill>
              </a:rPr>
              <a:t>juicy_fish</a:t>
            </a:r>
            <a:r>
              <a:rPr lang="en-AU" sz="3600" dirty="0">
                <a:solidFill>
                  <a:schemeClr val="tx1"/>
                </a:solidFill>
              </a:rPr>
              <a:t> - </a:t>
            </a:r>
            <a:r>
              <a:rPr lang="en-AU" sz="3600" dirty="0" err="1">
                <a:solidFill>
                  <a:schemeClr val="tx1"/>
                </a:solidFill>
              </a:rPr>
              <a:t>Flaticon</a:t>
            </a:r>
            <a:r>
              <a:rPr lang="en-AU" sz="3600" dirty="0">
                <a:solidFill>
                  <a:schemeClr val="tx1"/>
                </a:solidFill>
              </a:rPr>
              <a:t>&lt;/a&gt;</a:t>
            </a:r>
          </a:p>
          <a:p>
            <a:pPr marL="1028700" lvl="1" indent="-571500">
              <a:buFont typeface="Arial" panose="020B0604020202020204" pitchFamily="34" charset="0"/>
              <a:buChar char="•"/>
            </a:pPr>
            <a:r>
              <a:rPr lang="en-AU" sz="3600" dirty="0">
                <a:solidFill>
                  <a:schemeClr val="tx1"/>
                </a:solidFill>
              </a:rPr>
              <a:t>Battery icon: &lt;a </a:t>
            </a:r>
            <a:r>
              <a:rPr lang="en-AU" sz="3600" dirty="0" err="1">
                <a:solidFill>
                  <a:schemeClr val="tx1"/>
                </a:solidFill>
              </a:rPr>
              <a:t>href</a:t>
            </a:r>
            <a:r>
              <a:rPr lang="en-AU" sz="3600" dirty="0">
                <a:solidFill>
                  <a:schemeClr val="tx1"/>
                </a:solidFill>
              </a:rPr>
              <a:t>="https://</a:t>
            </a:r>
            <a:r>
              <a:rPr lang="en-AU" sz="3600" dirty="0" err="1">
                <a:solidFill>
                  <a:schemeClr val="tx1"/>
                </a:solidFill>
              </a:rPr>
              <a:t>www.flaticon.com</a:t>
            </a:r>
            <a:r>
              <a:rPr lang="en-AU" sz="3600" dirty="0">
                <a:solidFill>
                  <a:schemeClr val="tx1"/>
                </a:solidFill>
              </a:rPr>
              <a:t>/free-icons/car-battery" title="car battery icons"&gt;Car battery icons created by </a:t>
            </a:r>
            <a:r>
              <a:rPr lang="en-AU" sz="3600" dirty="0" err="1">
                <a:solidFill>
                  <a:schemeClr val="tx1"/>
                </a:solidFill>
              </a:rPr>
              <a:t>DinosoftLabs</a:t>
            </a:r>
            <a:r>
              <a:rPr lang="en-AU" sz="3600" dirty="0">
                <a:solidFill>
                  <a:schemeClr val="tx1"/>
                </a:solidFill>
              </a:rPr>
              <a:t> - </a:t>
            </a:r>
            <a:r>
              <a:rPr lang="en-AU" sz="3600" dirty="0" err="1">
                <a:solidFill>
                  <a:schemeClr val="tx1"/>
                </a:solidFill>
              </a:rPr>
              <a:t>Flaticon</a:t>
            </a:r>
            <a:r>
              <a:rPr lang="en-AU" sz="3600" dirty="0">
                <a:solidFill>
                  <a:schemeClr val="tx1"/>
                </a:solidFill>
              </a:rPr>
              <a:t>&lt;/a&gt;</a:t>
            </a:r>
          </a:p>
          <a:p>
            <a:pPr marL="1028700" lvl="1" indent="-571500">
              <a:buFont typeface="Arial" panose="020B0604020202020204" pitchFamily="34" charset="0"/>
              <a:buChar char="•"/>
            </a:pPr>
            <a:r>
              <a:rPr lang="en-AU" sz="3600" dirty="0">
                <a:solidFill>
                  <a:schemeClr val="tx1"/>
                </a:solidFill>
              </a:rPr>
              <a:t>Heat battery: &lt;a </a:t>
            </a:r>
            <a:r>
              <a:rPr lang="en-AU" sz="3600" dirty="0" err="1">
                <a:solidFill>
                  <a:schemeClr val="tx1"/>
                </a:solidFill>
              </a:rPr>
              <a:t>href</a:t>
            </a:r>
            <a:r>
              <a:rPr lang="en-AU" sz="3600" dirty="0">
                <a:solidFill>
                  <a:schemeClr val="tx1"/>
                </a:solidFill>
              </a:rPr>
              <a:t>="https://</a:t>
            </a:r>
            <a:r>
              <a:rPr lang="en-AU" sz="3600" dirty="0" err="1">
                <a:solidFill>
                  <a:schemeClr val="tx1"/>
                </a:solidFill>
              </a:rPr>
              <a:t>www.flaticon.com</a:t>
            </a:r>
            <a:r>
              <a:rPr lang="en-AU" sz="3600" dirty="0">
                <a:solidFill>
                  <a:schemeClr val="tx1"/>
                </a:solidFill>
              </a:rPr>
              <a:t>/free-icons/heating-element" title="heating element icons"&gt;Heating element icons created by </a:t>
            </a:r>
            <a:r>
              <a:rPr lang="en-AU" sz="3600" dirty="0" err="1">
                <a:solidFill>
                  <a:schemeClr val="tx1"/>
                </a:solidFill>
              </a:rPr>
              <a:t>IconBaandar</a:t>
            </a:r>
            <a:r>
              <a:rPr lang="en-AU" sz="3600" dirty="0">
                <a:solidFill>
                  <a:schemeClr val="tx1"/>
                </a:solidFill>
              </a:rPr>
              <a:t> - </a:t>
            </a:r>
            <a:r>
              <a:rPr lang="en-AU" sz="3600" dirty="0" err="1">
                <a:solidFill>
                  <a:schemeClr val="tx1"/>
                </a:solidFill>
              </a:rPr>
              <a:t>Flaticon</a:t>
            </a:r>
            <a:r>
              <a:rPr lang="en-AU" sz="3600" dirty="0">
                <a:solidFill>
                  <a:schemeClr val="tx1"/>
                </a:solidFill>
              </a:rPr>
              <a:t>&lt;/a&gt;</a:t>
            </a:r>
          </a:p>
          <a:p>
            <a:pPr marL="1028700" lvl="1" indent="-571500">
              <a:buFont typeface="Arial" panose="020B0604020202020204" pitchFamily="34" charset="0"/>
              <a:buChar char="•"/>
            </a:pPr>
            <a:r>
              <a:rPr lang="en-AU" sz="3600" dirty="0">
                <a:solidFill>
                  <a:schemeClr val="tx1"/>
                </a:solidFill>
              </a:rPr>
              <a:t>Industrial factory: &lt;a </a:t>
            </a:r>
            <a:r>
              <a:rPr lang="en-AU" sz="3600" dirty="0" err="1">
                <a:solidFill>
                  <a:schemeClr val="tx1"/>
                </a:solidFill>
              </a:rPr>
              <a:t>href</a:t>
            </a:r>
            <a:r>
              <a:rPr lang="en-AU" sz="3600" dirty="0">
                <a:solidFill>
                  <a:schemeClr val="tx1"/>
                </a:solidFill>
              </a:rPr>
              <a:t>="https://</a:t>
            </a:r>
            <a:r>
              <a:rPr lang="en-AU" sz="3600" dirty="0" err="1">
                <a:solidFill>
                  <a:schemeClr val="tx1"/>
                </a:solidFill>
              </a:rPr>
              <a:t>www.flaticon.com</a:t>
            </a:r>
            <a:r>
              <a:rPr lang="en-AU" sz="3600" dirty="0">
                <a:solidFill>
                  <a:schemeClr val="tx1"/>
                </a:solidFill>
              </a:rPr>
              <a:t>/free-icons/industry" title="industry icons"&gt;Industry icons created by Magnific - </a:t>
            </a:r>
            <a:r>
              <a:rPr lang="en-AU" sz="3600" dirty="0" err="1">
                <a:solidFill>
                  <a:schemeClr val="tx1"/>
                </a:solidFill>
              </a:rPr>
              <a:t>Flaticon</a:t>
            </a:r>
            <a:r>
              <a:rPr lang="en-AU" sz="3600" dirty="0">
                <a:solidFill>
                  <a:schemeClr val="tx1"/>
                </a:solidFill>
              </a:rPr>
              <a:t>&lt;/a&gt;</a:t>
            </a:r>
          </a:p>
          <a:p>
            <a:endParaRPr lang="en-US" dirty="0"/>
          </a:p>
        </p:txBody>
      </p:sp>
      <p:sp>
        <p:nvSpPr>
          <p:cNvPr id="4" name="Slide Number Placeholder 3"/>
          <p:cNvSpPr>
            <a:spLocks noGrp="1"/>
          </p:cNvSpPr>
          <p:nvPr>
            <p:ph type="sldNum" sz="quarter" idx="5"/>
          </p:nvPr>
        </p:nvSpPr>
        <p:spPr/>
        <p:txBody>
          <a:bodyPr/>
          <a:lstStyle/>
          <a:p>
            <a:fld id="{44C83CB1-55CD-F548-8C18-32137261C24C}" type="slidenum">
              <a:rPr lang="en-US" smtClean="0"/>
              <a:t>1</a:t>
            </a:fld>
            <a:endParaRPr lang="en-US"/>
          </a:p>
        </p:txBody>
      </p:sp>
    </p:spTree>
    <p:extLst>
      <p:ext uri="{BB962C8B-B14F-4D97-AF65-F5344CB8AC3E}">
        <p14:creationId xmlns:p14="http://schemas.microsoft.com/office/powerpoint/2010/main" val="34603257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641" y="7003597"/>
            <a:ext cx="25733931" cy="14898735"/>
          </a:xfrm>
        </p:spPr>
        <p:txBody>
          <a:bodyPr anchor="b"/>
          <a:lstStyle>
            <a:lvl1pPr algn="ctr">
              <a:defRPr sz="19865"/>
            </a:lvl1pPr>
          </a:lstStyle>
          <a:p>
            <a:r>
              <a:rPr lang="en-US"/>
              <a:t>Click to edit Master title style</a:t>
            </a:r>
            <a:endParaRPr lang="en-US" dirty="0"/>
          </a:p>
        </p:txBody>
      </p:sp>
      <p:sp>
        <p:nvSpPr>
          <p:cNvPr id="3" name="Subtitle 2"/>
          <p:cNvSpPr>
            <a:spLocks noGrp="1"/>
          </p:cNvSpPr>
          <p:nvPr>
            <p:ph type="subTitle" idx="1"/>
          </p:nvPr>
        </p:nvSpPr>
        <p:spPr>
          <a:xfrm>
            <a:off x="3784402" y="22476884"/>
            <a:ext cx="22706410" cy="10332032"/>
          </a:xfrm>
        </p:spPr>
        <p:txBody>
          <a:bodyPr/>
          <a:lstStyle>
            <a:lvl1pPr marL="0" indent="0" algn="ctr">
              <a:buNone/>
              <a:defRPr sz="7946"/>
            </a:lvl1pPr>
            <a:lvl2pPr marL="1513743" indent="0" algn="ctr">
              <a:buNone/>
              <a:defRPr sz="6622"/>
            </a:lvl2pPr>
            <a:lvl3pPr marL="3027487" indent="0" algn="ctr">
              <a:buNone/>
              <a:defRPr sz="5960"/>
            </a:lvl3pPr>
            <a:lvl4pPr marL="4541230" indent="0" algn="ctr">
              <a:buNone/>
              <a:defRPr sz="5297"/>
            </a:lvl4pPr>
            <a:lvl5pPr marL="6054974" indent="0" algn="ctr">
              <a:buNone/>
              <a:defRPr sz="5297"/>
            </a:lvl5pPr>
            <a:lvl6pPr marL="7568717" indent="0" algn="ctr">
              <a:buNone/>
              <a:defRPr sz="5297"/>
            </a:lvl6pPr>
            <a:lvl7pPr marL="9082461" indent="0" algn="ctr">
              <a:buNone/>
              <a:defRPr sz="5297"/>
            </a:lvl7pPr>
            <a:lvl8pPr marL="10596204" indent="0" algn="ctr">
              <a:buNone/>
              <a:defRPr sz="5297"/>
            </a:lvl8pPr>
            <a:lvl9pPr marL="12109948" indent="0" algn="ctr">
              <a:buNone/>
              <a:defRPr sz="5297"/>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6443665-F748-9945-A366-FD6D6A1B5883}" type="datetimeFigureOut">
              <a:rPr lang="en-US" smtClean="0"/>
              <a:t>8/10/26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8A2342-A1D6-0E4A-8B03-F3E37BB6CCF6}" type="slidenum">
              <a:rPr lang="en-US" smtClean="0"/>
              <a:t>‹#›</a:t>
            </a:fld>
            <a:endParaRPr lang="en-US"/>
          </a:p>
        </p:txBody>
      </p:sp>
    </p:spTree>
    <p:extLst>
      <p:ext uri="{BB962C8B-B14F-4D97-AF65-F5344CB8AC3E}">
        <p14:creationId xmlns:p14="http://schemas.microsoft.com/office/powerpoint/2010/main" val="26655782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443665-F748-9945-A366-FD6D6A1B5883}" type="datetimeFigureOut">
              <a:rPr lang="en-US" smtClean="0"/>
              <a:t>8/10/26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8A2342-A1D6-0E4A-8B03-F3E37BB6CCF6}" type="slidenum">
              <a:rPr lang="en-US" smtClean="0"/>
              <a:t>‹#›</a:t>
            </a:fld>
            <a:endParaRPr lang="en-US"/>
          </a:p>
        </p:txBody>
      </p:sp>
    </p:spTree>
    <p:extLst>
      <p:ext uri="{BB962C8B-B14F-4D97-AF65-F5344CB8AC3E}">
        <p14:creationId xmlns:p14="http://schemas.microsoft.com/office/powerpoint/2010/main" val="7375123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65654" y="10668854"/>
            <a:ext cx="26112371" cy="17801211"/>
          </a:xfrm>
        </p:spPr>
        <p:txBody>
          <a:bodyPr anchor="b"/>
          <a:lstStyle>
            <a:lvl1pPr>
              <a:defRPr sz="19865"/>
            </a:lvl1pPr>
          </a:lstStyle>
          <a:p>
            <a:r>
              <a:rPr lang="en-US"/>
              <a:t>Click to edit Master title style</a:t>
            </a:r>
            <a:endParaRPr lang="en-US" dirty="0"/>
          </a:p>
        </p:txBody>
      </p:sp>
      <p:sp>
        <p:nvSpPr>
          <p:cNvPr id="3" name="Text Placeholder 2"/>
          <p:cNvSpPr>
            <a:spLocks noGrp="1"/>
          </p:cNvSpPr>
          <p:nvPr>
            <p:ph type="body" idx="1"/>
          </p:nvPr>
        </p:nvSpPr>
        <p:spPr>
          <a:xfrm>
            <a:off x="2065654" y="28638472"/>
            <a:ext cx="26112371" cy="9361236"/>
          </a:xfrm>
        </p:spPr>
        <p:txBody>
          <a:bodyPr/>
          <a:lstStyle>
            <a:lvl1pPr marL="0" indent="0">
              <a:buNone/>
              <a:defRPr sz="7946">
                <a:solidFill>
                  <a:schemeClr val="tx1">
                    <a:tint val="82000"/>
                  </a:schemeClr>
                </a:solidFill>
              </a:defRPr>
            </a:lvl1pPr>
            <a:lvl2pPr marL="1513743" indent="0">
              <a:buNone/>
              <a:defRPr sz="6622">
                <a:solidFill>
                  <a:schemeClr val="tx1">
                    <a:tint val="82000"/>
                  </a:schemeClr>
                </a:solidFill>
              </a:defRPr>
            </a:lvl2pPr>
            <a:lvl3pPr marL="3027487" indent="0">
              <a:buNone/>
              <a:defRPr sz="5960">
                <a:solidFill>
                  <a:schemeClr val="tx1">
                    <a:tint val="82000"/>
                  </a:schemeClr>
                </a:solidFill>
              </a:defRPr>
            </a:lvl3pPr>
            <a:lvl4pPr marL="4541230" indent="0">
              <a:buNone/>
              <a:defRPr sz="5297">
                <a:solidFill>
                  <a:schemeClr val="tx1">
                    <a:tint val="82000"/>
                  </a:schemeClr>
                </a:solidFill>
              </a:defRPr>
            </a:lvl4pPr>
            <a:lvl5pPr marL="6054974" indent="0">
              <a:buNone/>
              <a:defRPr sz="5297">
                <a:solidFill>
                  <a:schemeClr val="tx1">
                    <a:tint val="82000"/>
                  </a:schemeClr>
                </a:solidFill>
              </a:defRPr>
            </a:lvl5pPr>
            <a:lvl6pPr marL="7568717" indent="0">
              <a:buNone/>
              <a:defRPr sz="5297">
                <a:solidFill>
                  <a:schemeClr val="tx1">
                    <a:tint val="82000"/>
                  </a:schemeClr>
                </a:solidFill>
              </a:defRPr>
            </a:lvl6pPr>
            <a:lvl7pPr marL="9082461" indent="0">
              <a:buNone/>
              <a:defRPr sz="5297">
                <a:solidFill>
                  <a:schemeClr val="tx1">
                    <a:tint val="82000"/>
                  </a:schemeClr>
                </a:solidFill>
              </a:defRPr>
            </a:lvl7pPr>
            <a:lvl8pPr marL="10596204" indent="0">
              <a:buNone/>
              <a:defRPr sz="5297">
                <a:solidFill>
                  <a:schemeClr val="tx1">
                    <a:tint val="82000"/>
                  </a:schemeClr>
                </a:solidFill>
              </a:defRPr>
            </a:lvl8pPr>
            <a:lvl9pPr marL="12109948" indent="0">
              <a:buNone/>
              <a:defRPr sz="5297">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443665-F748-9945-A366-FD6D6A1B5883}" type="datetimeFigureOut">
              <a:rPr lang="en-US" smtClean="0"/>
              <a:t>8/10/26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8A2342-A1D6-0E4A-8B03-F3E37BB6CCF6}" type="slidenum">
              <a:rPr lang="en-US" smtClean="0"/>
              <a:t>‹#›</a:t>
            </a:fld>
            <a:endParaRPr lang="en-US"/>
          </a:p>
        </p:txBody>
      </p:sp>
    </p:spTree>
    <p:extLst>
      <p:ext uri="{BB962C8B-B14F-4D97-AF65-F5344CB8AC3E}">
        <p14:creationId xmlns:p14="http://schemas.microsoft.com/office/powerpoint/2010/main" val="39641482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081421" y="11391985"/>
            <a:ext cx="12866966" cy="271525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5326826" y="11391985"/>
            <a:ext cx="12866966" cy="271525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6443665-F748-9945-A366-FD6D6A1B5883}" type="datetimeFigureOut">
              <a:rPr lang="en-US" smtClean="0"/>
              <a:t>8/10/26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58A2342-A1D6-0E4A-8B03-F3E37BB6CCF6}" type="slidenum">
              <a:rPr lang="en-US" smtClean="0"/>
              <a:t>‹#›</a:t>
            </a:fld>
            <a:endParaRPr lang="en-US"/>
          </a:p>
        </p:txBody>
      </p:sp>
    </p:spTree>
    <p:extLst>
      <p:ext uri="{BB962C8B-B14F-4D97-AF65-F5344CB8AC3E}">
        <p14:creationId xmlns:p14="http://schemas.microsoft.com/office/powerpoint/2010/main" val="30438679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278406"/>
            <a:ext cx="26112371" cy="8271575"/>
          </a:xfrm>
        </p:spPr>
        <p:txBody>
          <a:bodyPr/>
          <a:lstStyle/>
          <a:p>
            <a:r>
              <a:rPr lang="en-US"/>
              <a:t>Click to edit Master title style</a:t>
            </a:r>
            <a:endParaRPr lang="en-US" dirty="0"/>
          </a:p>
        </p:txBody>
      </p:sp>
      <p:sp>
        <p:nvSpPr>
          <p:cNvPr id="3" name="Text Placeholder 2"/>
          <p:cNvSpPr>
            <a:spLocks noGrp="1"/>
          </p:cNvSpPr>
          <p:nvPr>
            <p:ph type="body" idx="1"/>
          </p:nvPr>
        </p:nvSpPr>
        <p:spPr>
          <a:xfrm>
            <a:off x="2085368" y="10490535"/>
            <a:ext cx="12807832" cy="5141249"/>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en-US"/>
              <a:t>Click to edit Master text styles</a:t>
            </a:r>
          </a:p>
        </p:txBody>
      </p:sp>
      <p:sp>
        <p:nvSpPr>
          <p:cNvPr id="4" name="Content Placeholder 3"/>
          <p:cNvSpPr>
            <a:spLocks noGrp="1"/>
          </p:cNvSpPr>
          <p:nvPr>
            <p:ph sz="half" idx="2"/>
          </p:nvPr>
        </p:nvSpPr>
        <p:spPr>
          <a:xfrm>
            <a:off x="2085368" y="15631784"/>
            <a:ext cx="12807832" cy="2299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5326828" y="10490535"/>
            <a:ext cx="12870909" cy="5141249"/>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en-US"/>
              <a:t>Click to edit Master text styles</a:t>
            </a:r>
          </a:p>
        </p:txBody>
      </p:sp>
      <p:sp>
        <p:nvSpPr>
          <p:cNvPr id="6" name="Content Placeholder 5"/>
          <p:cNvSpPr>
            <a:spLocks noGrp="1"/>
          </p:cNvSpPr>
          <p:nvPr>
            <p:ph sz="quarter" idx="4"/>
          </p:nvPr>
        </p:nvSpPr>
        <p:spPr>
          <a:xfrm>
            <a:off x="15326828" y="15631784"/>
            <a:ext cx="12870909" cy="2299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443665-F748-9945-A366-FD6D6A1B5883}" type="datetimeFigureOut">
              <a:rPr lang="en-US" smtClean="0"/>
              <a:t>8/10/26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58A2342-A1D6-0E4A-8B03-F3E37BB6CCF6}" type="slidenum">
              <a:rPr lang="en-US" smtClean="0"/>
              <a:t>‹#›</a:t>
            </a:fld>
            <a:endParaRPr lang="en-US"/>
          </a:p>
        </p:txBody>
      </p:sp>
    </p:spTree>
    <p:extLst>
      <p:ext uri="{BB962C8B-B14F-4D97-AF65-F5344CB8AC3E}">
        <p14:creationId xmlns:p14="http://schemas.microsoft.com/office/powerpoint/2010/main" val="29230650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6443665-F748-9945-A366-FD6D6A1B5883}" type="datetimeFigureOut">
              <a:rPr lang="en-US" smtClean="0"/>
              <a:t>8/10/26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58A2342-A1D6-0E4A-8B03-F3E37BB6CCF6}" type="slidenum">
              <a:rPr lang="en-US" smtClean="0"/>
              <a:t>‹#›</a:t>
            </a:fld>
            <a:endParaRPr lang="en-US"/>
          </a:p>
        </p:txBody>
      </p:sp>
    </p:spTree>
    <p:extLst>
      <p:ext uri="{BB962C8B-B14F-4D97-AF65-F5344CB8AC3E}">
        <p14:creationId xmlns:p14="http://schemas.microsoft.com/office/powerpoint/2010/main" val="4017423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443665-F748-9945-A366-FD6D6A1B5883}" type="datetimeFigureOut">
              <a:rPr lang="en-US" smtClean="0"/>
              <a:t>8/10/26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58A2342-A1D6-0E4A-8B03-F3E37BB6CCF6}" type="slidenum">
              <a:rPr lang="en-US" smtClean="0"/>
              <a:t>‹#›</a:t>
            </a:fld>
            <a:endParaRPr lang="en-US"/>
          </a:p>
        </p:txBody>
      </p:sp>
    </p:spTree>
    <p:extLst>
      <p:ext uri="{BB962C8B-B14F-4D97-AF65-F5344CB8AC3E}">
        <p14:creationId xmlns:p14="http://schemas.microsoft.com/office/powerpoint/2010/main" val="3642258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2949"/>
            <a:ext cx="9764544" cy="9985322"/>
          </a:xfrm>
        </p:spPr>
        <p:txBody>
          <a:bodyPr anchor="b"/>
          <a:lstStyle>
            <a:lvl1pPr>
              <a:defRPr sz="10595"/>
            </a:lvl1pPr>
          </a:lstStyle>
          <a:p>
            <a:r>
              <a:rPr lang="en-US"/>
              <a:t>Click to edit Master title style</a:t>
            </a:r>
            <a:endParaRPr lang="en-US" dirty="0"/>
          </a:p>
        </p:txBody>
      </p:sp>
      <p:sp>
        <p:nvSpPr>
          <p:cNvPr id="3" name="Content Placeholder 2"/>
          <p:cNvSpPr>
            <a:spLocks noGrp="1"/>
          </p:cNvSpPr>
          <p:nvPr>
            <p:ph idx="1"/>
          </p:nvPr>
        </p:nvSpPr>
        <p:spPr>
          <a:xfrm>
            <a:off x="12870909" y="6161587"/>
            <a:ext cx="15326827" cy="30411646"/>
          </a:xfrm>
        </p:spPr>
        <p:txBody>
          <a:bodyPr/>
          <a:lstStyle>
            <a:lvl1pPr>
              <a:defRPr sz="10595"/>
            </a:lvl1pPr>
            <a:lvl2pPr>
              <a:defRPr sz="9271"/>
            </a:lvl2pPr>
            <a:lvl3pPr>
              <a:defRPr sz="7946"/>
            </a:lvl3pPr>
            <a:lvl4pPr>
              <a:defRPr sz="6622"/>
            </a:lvl4pPr>
            <a:lvl5pPr>
              <a:defRPr sz="6622"/>
            </a:lvl5pPr>
            <a:lvl6pPr>
              <a:defRPr sz="6622"/>
            </a:lvl6pPr>
            <a:lvl7pPr>
              <a:defRPr sz="6622"/>
            </a:lvl7pPr>
            <a:lvl8pPr>
              <a:defRPr sz="6622"/>
            </a:lvl8pPr>
            <a:lvl9pPr>
              <a:defRPr sz="662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085364" y="12838271"/>
            <a:ext cx="9764544" cy="23784486"/>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en-US"/>
              <a:t>Click to edit Master text styles</a:t>
            </a:r>
          </a:p>
        </p:txBody>
      </p:sp>
      <p:sp>
        <p:nvSpPr>
          <p:cNvPr id="5" name="Date Placeholder 4"/>
          <p:cNvSpPr>
            <a:spLocks noGrp="1"/>
          </p:cNvSpPr>
          <p:nvPr>
            <p:ph type="dt" sz="half" idx="10"/>
          </p:nvPr>
        </p:nvSpPr>
        <p:spPr/>
        <p:txBody>
          <a:bodyPr/>
          <a:lstStyle/>
          <a:p>
            <a:fld id="{E6443665-F748-9945-A366-FD6D6A1B5883}" type="datetimeFigureOut">
              <a:rPr lang="en-US" smtClean="0"/>
              <a:t>8/10/26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58A2342-A1D6-0E4A-8B03-F3E37BB6CCF6}" type="slidenum">
              <a:rPr lang="en-US" smtClean="0"/>
              <a:t>‹#›</a:t>
            </a:fld>
            <a:endParaRPr lang="en-US"/>
          </a:p>
        </p:txBody>
      </p:sp>
    </p:spTree>
    <p:extLst>
      <p:ext uri="{BB962C8B-B14F-4D97-AF65-F5344CB8AC3E}">
        <p14:creationId xmlns:p14="http://schemas.microsoft.com/office/powerpoint/2010/main" val="23477829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2949"/>
            <a:ext cx="9764544" cy="9985322"/>
          </a:xfrm>
        </p:spPr>
        <p:txBody>
          <a:bodyPr anchor="b"/>
          <a:lstStyle>
            <a:lvl1pPr>
              <a:defRPr sz="10595"/>
            </a:lvl1pPr>
          </a:lstStyle>
          <a:p>
            <a:r>
              <a:rPr lang="en-US"/>
              <a:t>Click to edit Master title style</a:t>
            </a:r>
            <a:endParaRPr lang="en-US" dirty="0"/>
          </a:p>
        </p:txBody>
      </p:sp>
      <p:sp>
        <p:nvSpPr>
          <p:cNvPr id="3" name="Picture Placeholder 2"/>
          <p:cNvSpPr>
            <a:spLocks noGrp="1" noChangeAspect="1"/>
          </p:cNvSpPr>
          <p:nvPr>
            <p:ph type="pic" idx="1"/>
          </p:nvPr>
        </p:nvSpPr>
        <p:spPr>
          <a:xfrm>
            <a:off x="12870909" y="6161587"/>
            <a:ext cx="15326827" cy="30411646"/>
          </a:xfrm>
        </p:spPr>
        <p:txBody>
          <a:bodyPr anchor="t"/>
          <a:lstStyle>
            <a:lvl1pPr marL="0" indent="0">
              <a:buNone/>
              <a:defRPr sz="10595"/>
            </a:lvl1pPr>
            <a:lvl2pPr marL="1513743" indent="0">
              <a:buNone/>
              <a:defRPr sz="9271"/>
            </a:lvl2pPr>
            <a:lvl3pPr marL="3027487" indent="0">
              <a:buNone/>
              <a:defRPr sz="7946"/>
            </a:lvl3pPr>
            <a:lvl4pPr marL="4541230" indent="0">
              <a:buNone/>
              <a:defRPr sz="6622"/>
            </a:lvl4pPr>
            <a:lvl5pPr marL="6054974" indent="0">
              <a:buNone/>
              <a:defRPr sz="6622"/>
            </a:lvl5pPr>
            <a:lvl6pPr marL="7568717" indent="0">
              <a:buNone/>
              <a:defRPr sz="6622"/>
            </a:lvl6pPr>
            <a:lvl7pPr marL="9082461" indent="0">
              <a:buNone/>
              <a:defRPr sz="6622"/>
            </a:lvl7pPr>
            <a:lvl8pPr marL="10596204" indent="0">
              <a:buNone/>
              <a:defRPr sz="6622"/>
            </a:lvl8pPr>
            <a:lvl9pPr marL="12109948" indent="0">
              <a:buNone/>
              <a:defRPr sz="6622"/>
            </a:lvl9pPr>
          </a:lstStyle>
          <a:p>
            <a:r>
              <a:rPr lang="en-US"/>
              <a:t>Click icon to add picture</a:t>
            </a:r>
            <a:endParaRPr lang="en-US" dirty="0"/>
          </a:p>
        </p:txBody>
      </p:sp>
      <p:sp>
        <p:nvSpPr>
          <p:cNvPr id="4" name="Text Placeholder 3"/>
          <p:cNvSpPr>
            <a:spLocks noGrp="1"/>
          </p:cNvSpPr>
          <p:nvPr>
            <p:ph type="body" sz="half" idx="2"/>
          </p:nvPr>
        </p:nvSpPr>
        <p:spPr>
          <a:xfrm>
            <a:off x="2085364" y="12838271"/>
            <a:ext cx="9764544" cy="23784486"/>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en-US"/>
              <a:t>Click to edit Master text styles</a:t>
            </a:r>
          </a:p>
        </p:txBody>
      </p:sp>
      <p:sp>
        <p:nvSpPr>
          <p:cNvPr id="5" name="Date Placeholder 4"/>
          <p:cNvSpPr>
            <a:spLocks noGrp="1"/>
          </p:cNvSpPr>
          <p:nvPr>
            <p:ph type="dt" sz="half" idx="10"/>
          </p:nvPr>
        </p:nvSpPr>
        <p:spPr/>
        <p:txBody>
          <a:bodyPr/>
          <a:lstStyle/>
          <a:p>
            <a:fld id="{E6443665-F748-9945-A366-FD6D6A1B5883}" type="datetimeFigureOut">
              <a:rPr lang="en-US" smtClean="0"/>
              <a:t>8/10/26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58A2342-A1D6-0E4A-8B03-F3E37BB6CCF6}" type="slidenum">
              <a:rPr lang="en-US" smtClean="0"/>
              <a:t>‹#›</a:t>
            </a:fld>
            <a:endParaRPr lang="en-US"/>
          </a:p>
        </p:txBody>
      </p:sp>
    </p:spTree>
    <p:extLst>
      <p:ext uri="{BB962C8B-B14F-4D97-AF65-F5344CB8AC3E}">
        <p14:creationId xmlns:p14="http://schemas.microsoft.com/office/powerpoint/2010/main" val="32705370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443665-F748-9945-A366-FD6D6A1B5883}" type="datetimeFigureOut">
              <a:rPr lang="en-US" smtClean="0"/>
              <a:t>8/10/26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8A2342-A1D6-0E4A-8B03-F3E37BB6CCF6}" type="slidenum">
              <a:rPr lang="en-US" smtClean="0"/>
              <a:t>‹#›</a:t>
            </a:fld>
            <a:endParaRPr lang="en-US"/>
          </a:p>
        </p:txBody>
      </p:sp>
    </p:spTree>
    <p:extLst>
      <p:ext uri="{BB962C8B-B14F-4D97-AF65-F5344CB8AC3E}">
        <p14:creationId xmlns:p14="http://schemas.microsoft.com/office/powerpoint/2010/main" val="41348530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65701" y="2278397"/>
            <a:ext cx="6528093" cy="3626613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081423" y="2278397"/>
            <a:ext cx="19205838" cy="362661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443665-F748-9945-A366-FD6D6A1B5883}" type="datetimeFigureOut">
              <a:rPr lang="en-US" smtClean="0"/>
              <a:t>8/10/26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8A2342-A1D6-0E4A-8B03-F3E37BB6CCF6}" type="slidenum">
              <a:rPr lang="en-US" smtClean="0"/>
              <a:t>‹#›</a:t>
            </a:fld>
            <a:endParaRPr lang="en-US"/>
          </a:p>
        </p:txBody>
      </p:sp>
    </p:spTree>
    <p:extLst>
      <p:ext uri="{BB962C8B-B14F-4D97-AF65-F5344CB8AC3E}">
        <p14:creationId xmlns:p14="http://schemas.microsoft.com/office/powerpoint/2010/main" val="24283346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1421" y="2278406"/>
            <a:ext cx="26112371" cy="827157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081421" y="11391985"/>
            <a:ext cx="26112371" cy="2715255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081421" y="39663928"/>
            <a:ext cx="6811923" cy="2278397"/>
          </a:xfrm>
          <a:prstGeom prst="rect">
            <a:avLst/>
          </a:prstGeom>
        </p:spPr>
        <p:txBody>
          <a:bodyPr vert="horz" lIns="91440" tIns="45720" rIns="91440" bIns="45720" rtlCol="0" anchor="ctr"/>
          <a:lstStyle>
            <a:lvl1pPr algn="l">
              <a:defRPr sz="3973">
                <a:solidFill>
                  <a:schemeClr val="tx1">
                    <a:tint val="82000"/>
                  </a:schemeClr>
                </a:solidFill>
              </a:defRPr>
            </a:lvl1pPr>
          </a:lstStyle>
          <a:p>
            <a:fld id="{E6443665-F748-9945-A366-FD6D6A1B5883}" type="datetimeFigureOut">
              <a:rPr lang="en-US" smtClean="0"/>
              <a:t>8/10/26</a:t>
            </a:fld>
            <a:endParaRPr lang="en-US"/>
          </a:p>
        </p:txBody>
      </p:sp>
      <p:sp>
        <p:nvSpPr>
          <p:cNvPr id="5" name="Footer Placeholder 4"/>
          <p:cNvSpPr>
            <a:spLocks noGrp="1"/>
          </p:cNvSpPr>
          <p:nvPr>
            <p:ph type="ftr" sz="quarter" idx="3"/>
          </p:nvPr>
        </p:nvSpPr>
        <p:spPr>
          <a:xfrm>
            <a:off x="10028665" y="39663928"/>
            <a:ext cx="10217884" cy="2278397"/>
          </a:xfrm>
          <a:prstGeom prst="rect">
            <a:avLst/>
          </a:prstGeom>
        </p:spPr>
        <p:txBody>
          <a:bodyPr vert="horz" lIns="91440" tIns="45720" rIns="91440" bIns="45720" rtlCol="0" anchor="ctr"/>
          <a:lstStyle>
            <a:lvl1pPr algn="ctr">
              <a:defRPr sz="3973">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21381869" y="39663928"/>
            <a:ext cx="6811923" cy="2278397"/>
          </a:xfrm>
          <a:prstGeom prst="rect">
            <a:avLst/>
          </a:prstGeom>
        </p:spPr>
        <p:txBody>
          <a:bodyPr vert="horz" lIns="91440" tIns="45720" rIns="91440" bIns="45720" rtlCol="0" anchor="ctr"/>
          <a:lstStyle>
            <a:lvl1pPr algn="r">
              <a:defRPr sz="3973">
                <a:solidFill>
                  <a:schemeClr val="tx1">
                    <a:tint val="82000"/>
                  </a:schemeClr>
                </a:solidFill>
              </a:defRPr>
            </a:lvl1pPr>
          </a:lstStyle>
          <a:p>
            <a:fld id="{358A2342-A1D6-0E4A-8B03-F3E37BB6CCF6}" type="slidenum">
              <a:rPr lang="en-US" smtClean="0"/>
              <a:t>‹#›</a:t>
            </a:fld>
            <a:endParaRPr lang="en-US"/>
          </a:p>
        </p:txBody>
      </p:sp>
    </p:spTree>
    <p:extLst>
      <p:ext uri="{BB962C8B-B14F-4D97-AF65-F5344CB8AC3E}">
        <p14:creationId xmlns:p14="http://schemas.microsoft.com/office/powerpoint/2010/main" val="15849798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027487" rtl="0" eaLnBrk="1" latinLnBrk="0" hangingPunct="1">
        <a:lnSpc>
          <a:spcPct val="90000"/>
        </a:lnSpc>
        <a:spcBef>
          <a:spcPct val="0"/>
        </a:spcBef>
        <a:buNone/>
        <a:defRPr sz="14568" kern="1200">
          <a:solidFill>
            <a:schemeClr val="tx1"/>
          </a:solidFill>
          <a:latin typeface="+mj-lt"/>
          <a:ea typeface="+mj-ea"/>
          <a:cs typeface="+mj-cs"/>
        </a:defRPr>
      </a:lvl1pPr>
    </p:titleStyle>
    <p:bodyStyle>
      <a:lvl1pPr marL="756872" indent="-756872" algn="l" defTabSz="3027487" rtl="0" eaLnBrk="1" latinLnBrk="0" hangingPunct="1">
        <a:lnSpc>
          <a:spcPct val="90000"/>
        </a:lnSpc>
        <a:spcBef>
          <a:spcPts val="3311"/>
        </a:spcBef>
        <a:buFont typeface="Arial" panose="020B0604020202020204" pitchFamily="34" charset="0"/>
        <a:buChar char="•"/>
        <a:defRPr sz="9271" kern="1200">
          <a:solidFill>
            <a:schemeClr val="tx1"/>
          </a:solidFill>
          <a:latin typeface="+mn-lt"/>
          <a:ea typeface="+mn-ea"/>
          <a:cs typeface="+mn-cs"/>
        </a:defRPr>
      </a:lvl1pPr>
      <a:lvl2pPr marL="2270615" indent="-756872" algn="l" defTabSz="3027487" rtl="0" eaLnBrk="1" latinLnBrk="0" hangingPunct="1">
        <a:lnSpc>
          <a:spcPct val="90000"/>
        </a:lnSpc>
        <a:spcBef>
          <a:spcPts val="1655"/>
        </a:spcBef>
        <a:buFont typeface="Arial" panose="020B0604020202020204" pitchFamily="34" charset="0"/>
        <a:buChar char="•"/>
        <a:defRPr sz="7946" kern="1200">
          <a:solidFill>
            <a:schemeClr val="tx1"/>
          </a:solidFill>
          <a:latin typeface="+mn-lt"/>
          <a:ea typeface="+mn-ea"/>
          <a:cs typeface="+mn-cs"/>
        </a:defRPr>
      </a:lvl2pPr>
      <a:lvl3pPr marL="3784359" indent="-756872" algn="l" defTabSz="3027487" rtl="0" eaLnBrk="1" latinLnBrk="0" hangingPunct="1">
        <a:lnSpc>
          <a:spcPct val="90000"/>
        </a:lnSpc>
        <a:spcBef>
          <a:spcPts val="1655"/>
        </a:spcBef>
        <a:buFont typeface="Arial" panose="020B0604020202020204" pitchFamily="34" charset="0"/>
        <a:buChar char="•"/>
        <a:defRPr sz="6622" kern="1200">
          <a:solidFill>
            <a:schemeClr val="tx1"/>
          </a:solidFill>
          <a:latin typeface="+mn-lt"/>
          <a:ea typeface="+mn-ea"/>
          <a:cs typeface="+mn-cs"/>
        </a:defRPr>
      </a:lvl3pPr>
      <a:lvl4pPr marL="5298102"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4pPr>
      <a:lvl5pPr marL="681184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p:bodyStyle>
    <p:otherStyle>
      <a:defPPr>
        <a:defRPr lang="en-US"/>
      </a:defPPr>
      <a:lvl1pPr marL="0" algn="l" defTabSz="3027487" rtl="0" eaLnBrk="1" latinLnBrk="0" hangingPunct="1">
        <a:defRPr sz="5960" kern="1200">
          <a:solidFill>
            <a:schemeClr val="tx1"/>
          </a:solidFill>
          <a:latin typeface="+mn-lt"/>
          <a:ea typeface="+mn-ea"/>
          <a:cs typeface="+mn-cs"/>
        </a:defRPr>
      </a:lvl1pPr>
      <a:lvl2pPr marL="1513743" algn="l" defTabSz="3027487" rtl="0" eaLnBrk="1" latinLnBrk="0" hangingPunct="1">
        <a:defRPr sz="5960" kern="1200">
          <a:solidFill>
            <a:schemeClr val="tx1"/>
          </a:solidFill>
          <a:latin typeface="+mn-lt"/>
          <a:ea typeface="+mn-ea"/>
          <a:cs typeface="+mn-cs"/>
        </a:defRPr>
      </a:lvl2pPr>
      <a:lvl3pPr marL="3027487" algn="l" defTabSz="3027487" rtl="0" eaLnBrk="1" latinLnBrk="0" hangingPunct="1">
        <a:defRPr sz="5960" kern="1200">
          <a:solidFill>
            <a:schemeClr val="tx1"/>
          </a:solidFill>
          <a:latin typeface="+mn-lt"/>
          <a:ea typeface="+mn-ea"/>
          <a:cs typeface="+mn-cs"/>
        </a:defRPr>
      </a:lvl3pPr>
      <a:lvl4pPr marL="4541230" algn="l" defTabSz="3027487" rtl="0" eaLnBrk="1" latinLnBrk="0" hangingPunct="1">
        <a:defRPr sz="5960" kern="1200">
          <a:solidFill>
            <a:schemeClr val="tx1"/>
          </a:solidFill>
          <a:latin typeface="+mn-lt"/>
          <a:ea typeface="+mn-ea"/>
          <a:cs typeface="+mn-cs"/>
        </a:defRPr>
      </a:lvl4pPr>
      <a:lvl5pPr marL="6054974" algn="l" defTabSz="3027487" rtl="0" eaLnBrk="1" latinLnBrk="0" hangingPunct="1">
        <a:defRPr sz="5960" kern="1200">
          <a:solidFill>
            <a:schemeClr val="tx1"/>
          </a:solidFill>
          <a:latin typeface="+mn-lt"/>
          <a:ea typeface="+mn-ea"/>
          <a:cs typeface="+mn-cs"/>
        </a:defRPr>
      </a:lvl5pPr>
      <a:lvl6pPr marL="7568717" algn="l" defTabSz="3027487" rtl="0" eaLnBrk="1" latinLnBrk="0" hangingPunct="1">
        <a:defRPr sz="5960" kern="1200">
          <a:solidFill>
            <a:schemeClr val="tx1"/>
          </a:solidFill>
          <a:latin typeface="+mn-lt"/>
          <a:ea typeface="+mn-ea"/>
          <a:cs typeface="+mn-cs"/>
        </a:defRPr>
      </a:lvl6pPr>
      <a:lvl7pPr marL="9082461" algn="l" defTabSz="3027487" rtl="0" eaLnBrk="1" latinLnBrk="0" hangingPunct="1">
        <a:defRPr sz="5960" kern="1200">
          <a:solidFill>
            <a:schemeClr val="tx1"/>
          </a:solidFill>
          <a:latin typeface="+mn-lt"/>
          <a:ea typeface="+mn-ea"/>
          <a:cs typeface="+mn-cs"/>
        </a:defRPr>
      </a:lvl7pPr>
      <a:lvl8pPr marL="10596204" algn="l" defTabSz="3027487" rtl="0" eaLnBrk="1" latinLnBrk="0" hangingPunct="1">
        <a:defRPr sz="5960" kern="1200">
          <a:solidFill>
            <a:schemeClr val="tx1"/>
          </a:solidFill>
          <a:latin typeface="+mn-lt"/>
          <a:ea typeface="+mn-ea"/>
          <a:cs typeface="+mn-cs"/>
        </a:defRPr>
      </a:lvl8pPr>
      <a:lvl9pPr marL="12109948" algn="l" defTabSz="3027487" rtl="0" eaLnBrk="1" latinLnBrk="0" hangingPunct="1">
        <a:defRPr sz="59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1F35331-102A-3A0B-B60D-AE887B6C9A18}"/>
              </a:ext>
            </a:extLst>
          </p:cNvPr>
          <p:cNvPicPr>
            <a:picLocks noChangeAspect="1"/>
          </p:cNvPicPr>
          <p:nvPr/>
        </p:nvPicPr>
        <p:blipFill>
          <a:blip r:embed="rId3"/>
          <a:srcRect t="355"/>
          <a:stretch>
            <a:fillRect/>
          </a:stretch>
        </p:blipFill>
        <p:spPr>
          <a:xfrm>
            <a:off x="15502868" y="20958119"/>
            <a:ext cx="14426588" cy="14930855"/>
          </a:xfrm>
          <a:prstGeom prst="rect">
            <a:avLst/>
          </a:prstGeom>
        </p:spPr>
      </p:pic>
      <p:sp>
        <p:nvSpPr>
          <p:cNvPr id="6" name="TextBox 5">
            <a:extLst>
              <a:ext uri="{FF2B5EF4-FFF2-40B4-BE49-F238E27FC236}">
                <a16:creationId xmlns:a16="http://schemas.microsoft.com/office/drawing/2014/main" id="{D7101A37-83C1-3B41-E48B-D3E16C245C14}"/>
              </a:ext>
            </a:extLst>
          </p:cNvPr>
          <p:cNvSpPr txBox="1"/>
          <p:nvPr/>
        </p:nvSpPr>
        <p:spPr>
          <a:xfrm>
            <a:off x="1787677" y="610722"/>
            <a:ext cx="26740521" cy="2308324"/>
          </a:xfrm>
          <a:prstGeom prst="rect">
            <a:avLst/>
          </a:prstGeom>
          <a:noFill/>
        </p:spPr>
        <p:txBody>
          <a:bodyPr wrap="square" rtlCol="0">
            <a:spAutoFit/>
          </a:bodyPr>
          <a:lstStyle/>
          <a:p>
            <a:pPr algn="ctr"/>
            <a:r>
              <a:rPr lang="en-GB" sz="7200" b="1" dirty="0">
                <a:latin typeface="+mj-lt"/>
                <a:cs typeface="Times New Roman" panose="02020603050405020304" pitchFamily="18" charset="0"/>
              </a:rPr>
              <a:t>Techno-economic Potential of Electrified Industrial Process Heat in European Manufacturing </a:t>
            </a:r>
            <a:endParaRPr lang="en-US" sz="7200" b="1" i="1" dirty="0">
              <a:latin typeface="+mj-lt"/>
              <a:cs typeface="Times New Roman" panose="02020603050405020304" pitchFamily="18" charset="0"/>
            </a:endParaRPr>
          </a:p>
        </p:txBody>
      </p:sp>
      <p:sp>
        <p:nvSpPr>
          <p:cNvPr id="7" name="TextBox 6">
            <a:extLst>
              <a:ext uri="{FF2B5EF4-FFF2-40B4-BE49-F238E27FC236}">
                <a16:creationId xmlns:a16="http://schemas.microsoft.com/office/drawing/2014/main" id="{EB730D65-80BB-8F36-FAB4-74C72F1BD9E3}"/>
              </a:ext>
            </a:extLst>
          </p:cNvPr>
          <p:cNvSpPr txBox="1"/>
          <p:nvPr/>
        </p:nvSpPr>
        <p:spPr>
          <a:xfrm>
            <a:off x="1787677" y="2919046"/>
            <a:ext cx="26740521" cy="2277547"/>
          </a:xfrm>
          <a:prstGeom prst="rect">
            <a:avLst/>
          </a:prstGeom>
          <a:noFill/>
        </p:spPr>
        <p:txBody>
          <a:bodyPr wrap="square" rtlCol="0">
            <a:spAutoFit/>
          </a:bodyPr>
          <a:lstStyle/>
          <a:p>
            <a:pPr marL="0" marR="0" algn="ctr">
              <a:spcAft>
                <a:spcPts val="1200"/>
              </a:spcAft>
              <a:buNone/>
            </a:pPr>
            <a:r>
              <a:rPr lang="en-GB" sz="4400" b="1" i="1" dirty="0">
                <a:effectLst/>
                <a:ea typeface="Calibri" panose="020F0502020204030204" pitchFamily="34" charset="0"/>
              </a:rPr>
              <a:t>Anna Yuen</a:t>
            </a:r>
            <a:r>
              <a:rPr lang="en-GB" sz="4400" b="1" i="1" baseline="30000" dirty="0">
                <a:effectLst/>
                <a:ea typeface="Calibri" panose="020F0502020204030204" pitchFamily="34" charset="0"/>
              </a:rPr>
              <a:t>1, 2, *</a:t>
            </a:r>
            <a:r>
              <a:rPr lang="en-GB" sz="4400" b="1" i="1" dirty="0">
                <a:effectLst/>
                <a:ea typeface="Calibri" panose="020F0502020204030204" pitchFamily="34" charset="0"/>
              </a:rPr>
              <a:t>, Amol Phadke</a:t>
            </a:r>
            <a:r>
              <a:rPr lang="en-GB" sz="4400" b="1" i="1" baseline="30000" dirty="0">
                <a:effectLst/>
                <a:ea typeface="Calibri" panose="020F0502020204030204" pitchFamily="34" charset="0"/>
              </a:rPr>
              <a:t>2</a:t>
            </a:r>
            <a:endParaRPr lang="en-US" sz="4400" b="1" i="1" dirty="0">
              <a:effectLst/>
              <a:ea typeface="Calibri" panose="020F0502020204030204" pitchFamily="34" charset="0"/>
            </a:endParaRPr>
          </a:p>
          <a:p>
            <a:pPr marL="0" marR="0" algn="ctr">
              <a:spcAft>
                <a:spcPts val="1200"/>
              </a:spcAft>
              <a:buNone/>
            </a:pPr>
            <a:r>
              <a:rPr lang="en-GB" sz="4400" i="1" baseline="30000" dirty="0">
                <a:effectLst/>
                <a:ea typeface="Courier New" panose="02070309020205020404" pitchFamily="49" charset="0"/>
              </a:rPr>
              <a:t>1</a:t>
            </a:r>
            <a:r>
              <a:rPr lang="en-GB" sz="4400" i="1" dirty="0">
                <a:effectLst/>
                <a:ea typeface="Courier New" panose="02070309020205020404" pitchFamily="49" charset="0"/>
              </a:rPr>
              <a:t>Energy and Resources Group, University of California, Berkeley</a:t>
            </a:r>
            <a:br>
              <a:rPr lang="en-GB" sz="4400" i="1" dirty="0">
                <a:effectLst/>
                <a:ea typeface="Courier New" panose="02070309020205020404" pitchFamily="49" charset="0"/>
              </a:rPr>
            </a:br>
            <a:r>
              <a:rPr lang="en-GB" sz="4400" i="1" baseline="30000" dirty="0">
                <a:effectLst/>
                <a:ea typeface="Courier New" panose="02070309020205020404" pitchFamily="49" charset="0"/>
              </a:rPr>
              <a:t>2</a:t>
            </a:r>
            <a:r>
              <a:rPr lang="en-GB" sz="4400" i="1" dirty="0">
                <a:effectLst/>
                <a:ea typeface="Courier New" panose="02070309020205020404" pitchFamily="49" charset="0"/>
              </a:rPr>
              <a:t>Goldman School of Public Policy, University of California, Berkeley</a:t>
            </a:r>
            <a:endParaRPr lang="en-US" sz="4400" i="1" dirty="0">
              <a:effectLst/>
              <a:ea typeface="Courier New" panose="02070309020205020404" pitchFamily="49" charset="0"/>
            </a:endParaRPr>
          </a:p>
        </p:txBody>
      </p:sp>
      <p:sp>
        <p:nvSpPr>
          <p:cNvPr id="14" name="TextBox 13">
            <a:extLst>
              <a:ext uri="{FF2B5EF4-FFF2-40B4-BE49-F238E27FC236}">
                <a16:creationId xmlns:a16="http://schemas.microsoft.com/office/drawing/2014/main" id="{D686C373-1A42-F1F0-9871-03D375C37C5F}"/>
              </a:ext>
            </a:extLst>
          </p:cNvPr>
          <p:cNvSpPr txBox="1"/>
          <p:nvPr/>
        </p:nvSpPr>
        <p:spPr>
          <a:xfrm>
            <a:off x="519930" y="5308383"/>
            <a:ext cx="14629826" cy="769441"/>
          </a:xfrm>
          <a:prstGeom prst="rect">
            <a:avLst/>
          </a:prstGeom>
          <a:solidFill>
            <a:schemeClr val="accent1">
              <a:lumMod val="75000"/>
            </a:schemeClr>
          </a:solidFill>
        </p:spPr>
        <p:txBody>
          <a:bodyPr wrap="square" rtlCol="0">
            <a:spAutoFit/>
          </a:bodyPr>
          <a:lstStyle/>
          <a:p>
            <a:pPr algn="ctr"/>
            <a:r>
              <a:rPr lang="en-US" sz="4400" dirty="0">
                <a:solidFill>
                  <a:schemeClr val="bg1"/>
                </a:solidFill>
              </a:rPr>
              <a:t>Introduction</a:t>
            </a:r>
          </a:p>
        </p:txBody>
      </p:sp>
      <p:sp>
        <p:nvSpPr>
          <p:cNvPr id="15" name="Rectangle 14">
            <a:extLst>
              <a:ext uri="{FF2B5EF4-FFF2-40B4-BE49-F238E27FC236}">
                <a16:creationId xmlns:a16="http://schemas.microsoft.com/office/drawing/2014/main" id="{7501C06A-7662-B050-A966-4E49E0098497}"/>
              </a:ext>
            </a:extLst>
          </p:cNvPr>
          <p:cNvSpPr/>
          <p:nvPr/>
        </p:nvSpPr>
        <p:spPr>
          <a:xfrm>
            <a:off x="544642" y="6082865"/>
            <a:ext cx="14605017" cy="7813267"/>
          </a:xfrm>
          <a:prstGeom prst="rect">
            <a:avLst/>
          </a:prstGeom>
          <a:solidFill>
            <a:schemeClr val="accent1">
              <a:lumMod val="20000"/>
              <a:lumOff val="8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lvl="1"/>
            <a:endParaRPr lang="en-AU" sz="3200" dirty="0">
              <a:solidFill>
                <a:schemeClr val="tx1"/>
              </a:solidFill>
            </a:endParaRPr>
          </a:p>
          <a:p>
            <a:pPr lvl="1"/>
            <a:endParaRPr lang="en-AU" sz="3200" dirty="0">
              <a:solidFill>
                <a:schemeClr val="tx1"/>
              </a:solidFill>
            </a:endParaRPr>
          </a:p>
          <a:p>
            <a:pPr lvl="1"/>
            <a:endParaRPr lang="en-AU" sz="3200" dirty="0">
              <a:solidFill>
                <a:schemeClr val="tx1"/>
              </a:solidFill>
            </a:endParaRPr>
          </a:p>
          <a:p>
            <a:pPr lvl="1"/>
            <a:endParaRPr lang="en-AU" sz="3200" dirty="0">
              <a:solidFill>
                <a:schemeClr val="tx1"/>
              </a:solidFill>
            </a:endParaRPr>
          </a:p>
          <a:p>
            <a:pPr lvl="1"/>
            <a:endParaRPr lang="en-AU" sz="3200" dirty="0">
              <a:solidFill>
                <a:schemeClr val="tx1"/>
              </a:solidFill>
            </a:endParaRPr>
          </a:p>
          <a:p>
            <a:pPr lvl="1"/>
            <a:endParaRPr lang="en-AU" sz="3200" dirty="0">
              <a:solidFill>
                <a:schemeClr val="tx1"/>
              </a:solidFill>
            </a:endParaRPr>
          </a:p>
          <a:p>
            <a:pPr lvl="1"/>
            <a:endParaRPr lang="en-AU" sz="3200" dirty="0">
              <a:solidFill>
                <a:schemeClr val="tx1"/>
              </a:solidFill>
            </a:endParaRPr>
          </a:p>
          <a:p>
            <a:pPr lvl="1"/>
            <a:endParaRPr lang="en-AU" sz="3200" dirty="0">
              <a:solidFill>
                <a:schemeClr val="tx1"/>
              </a:solidFill>
            </a:endParaRPr>
          </a:p>
          <a:p>
            <a:pPr lvl="1"/>
            <a:endParaRPr lang="en-AU" sz="3200" dirty="0">
              <a:solidFill>
                <a:schemeClr val="tx1"/>
              </a:solidFill>
            </a:endParaRPr>
          </a:p>
          <a:p>
            <a:pPr lvl="1"/>
            <a:endParaRPr lang="en-AU" sz="3200" dirty="0">
              <a:solidFill>
                <a:schemeClr val="tx1"/>
              </a:solidFill>
            </a:endParaRPr>
          </a:p>
          <a:p>
            <a:pPr lvl="1"/>
            <a:endParaRPr lang="en-AU" sz="3200" dirty="0">
              <a:solidFill>
                <a:schemeClr val="tx1"/>
              </a:solidFill>
            </a:endParaRPr>
          </a:p>
          <a:p>
            <a:pPr lvl="1"/>
            <a:endParaRPr lang="en-AU" sz="3200" dirty="0">
              <a:solidFill>
                <a:schemeClr val="tx1"/>
              </a:solidFill>
            </a:endParaRPr>
          </a:p>
        </p:txBody>
      </p:sp>
      <p:sp>
        <p:nvSpPr>
          <p:cNvPr id="16" name="TextBox 15">
            <a:extLst>
              <a:ext uri="{FF2B5EF4-FFF2-40B4-BE49-F238E27FC236}">
                <a16:creationId xmlns:a16="http://schemas.microsoft.com/office/drawing/2014/main" id="{2CBB6DFA-CA06-598D-F943-2160471330D5}"/>
              </a:ext>
            </a:extLst>
          </p:cNvPr>
          <p:cNvSpPr txBox="1"/>
          <p:nvPr/>
        </p:nvSpPr>
        <p:spPr>
          <a:xfrm>
            <a:off x="15751613" y="5268651"/>
            <a:ext cx="13625614" cy="769441"/>
          </a:xfrm>
          <a:prstGeom prst="rect">
            <a:avLst/>
          </a:prstGeom>
          <a:solidFill>
            <a:schemeClr val="accent1">
              <a:lumMod val="75000"/>
            </a:schemeClr>
          </a:solidFill>
        </p:spPr>
        <p:txBody>
          <a:bodyPr wrap="square" rtlCol="0">
            <a:spAutoFit/>
          </a:bodyPr>
          <a:lstStyle/>
          <a:p>
            <a:pPr algn="ctr"/>
            <a:r>
              <a:rPr lang="en-US" sz="4400" dirty="0">
                <a:solidFill>
                  <a:schemeClr val="bg1"/>
                </a:solidFill>
              </a:rPr>
              <a:t>Methods</a:t>
            </a:r>
          </a:p>
        </p:txBody>
      </p:sp>
      <p:sp>
        <p:nvSpPr>
          <p:cNvPr id="17" name="Rectangle 16">
            <a:extLst>
              <a:ext uri="{FF2B5EF4-FFF2-40B4-BE49-F238E27FC236}">
                <a16:creationId xmlns:a16="http://schemas.microsoft.com/office/drawing/2014/main" id="{6258D251-BD70-FF9C-C695-7C18F7B51234}"/>
              </a:ext>
            </a:extLst>
          </p:cNvPr>
          <p:cNvSpPr/>
          <p:nvPr/>
        </p:nvSpPr>
        <p:spPr>
          <a:xfrm>
            <a:off x="15751611" y="6069846"/>
            <a:ext cx="13625616" cy="13792262"/>
          </a:xfrm>
          <a:prstGeom prst="rect">
            <a:avLst/>
          </a:prstGeom>
          <a:solidFill>
            <a:schemeClr val="accent1">
              <a:lumMod val="20000"/>
              <a:lumOff val="8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3600" dirty="0">
              <a:solidFill>
                <a:schemeClr val="tx1"/>
              </a:solidFill>
            </a:endParaRPr>
          </a:p>
        </p:txBody>
      </p:sp>
      <p:sp>
        <p:nvSpPr>
          <p:cNvPr id="18" name="TextBox 17">
            <a:extLst>
              <a:ext uri="{FF2B5EF4-FFF2-40B4-BE49-F238E27FC236}">
                <a16:creationId xmlns:a16="http://schemas.microsoft.com/office/drawing/2014/main" id="{E72F28C8-9FC7-8CDB-9C10-91476099622F}"/>
              </a:ext>
            </a:extLst>
          </p:cNvPr>
          <p:cNvSpPr txBox="1"/>
          <p:nvPr/>
        </p:nvSpPr>
        <p:spPr>
          <a:xfrm>
            <a:off x="544643" y="14062058"/>
            <a:ext cx="14629827" cy="769441"/>
          </a:xfrm>
          <a:prstGeom prst="rect">
            <a:avLst/>
          </a:prstGeom>
          <a:solidFill>
            <a:schemeClr val="accent1">
              <a:lumMod val="75000"/>
            </a:schemeClr>
          </a:solidFill>
        </p:spPr>
        <p:txBody>
          <a:bodyPr wrap="square" rtlCol="0">
            <a:spAutoFit/>
          </a:bodyPr>
          <a:lstStyle/>
          <a:p>
            <a:pPr algn="ctr"/>
            <a:r>
              <a:rPr lang="en-US" sz="4400" dirty="0">
                <a:solidFill>
                  <a:schemeClr val="bg1"/>
                </a:solidFill>
              </a:rPr>
              <a:t>Results</a:t>
            </a:r>
          </a:p>
        </p:txBody>
      </p:sp>
      <p:sp>
        <p:nvSpPr>
          <p:cNvPr id="19" name="Rectangle 18">
            <a:extLst>
              <a:ext uri="{FF2B5EF4-FFF2-40B4-BE49-F238E27FC236}">
                <a16:creationId xmlns:a16="http://schemas.microsoft.com/office/drawing/2014/main" id="{C54E2D8A-2844-822B-23E0-F3337B093462}"/>
              </a:ext>
            </a:extLst>
          </p:cNvPr>
          <p:cNvSpPr/>
          <p:nvPr/>
        </p:nvSpPr>
        <p:spPr>
          <a:xfrm>
            <a:off x="544643" y="17987748"/>
            <a:ext cx="14629827" cy="1874359"/>
          </a:xfrm>
          <a:prstGeom prst="rect">
            <a:avLst/>
          </a:prstGeom>
          <a:solidFill>
            <a:schemeClr val="accent1">
              <a:lumMod val="20000"/>
              <a:lumOff val="8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1" dirty="0">
                <a:solidFill>
                  <a:schemeClr val="tx1"/>
                </a:solidFill>
              </a:rPr>
              <a:t>Max heat:</a:t>
            </a:r>
            <a:r>
              <a:rPr lang="en-US" sz="2400" dirty="0">
                <a:solidFill>
                  <a:schemeClr val="tx1"/>
                </a:solidFill>
              </a:rPr>
              <a:t> for each site, raise availability as high as possible while keeping LCOH below that country’s gas heat cost. Goal: </a:t>
            </a:r>
            <a:r>
              <a:rPr lang="en-US" sz="2400" b="1" dirty="0">
                <a:solidFill>
                  <a:schemeClr val="tx1"/>
                </a:solidFill>
              </a:rPr>
              <a:t>serve the most heat that still beats gas</a:t>
            </a:r>
            <a:r>
              <a:rPr lang="en-US" sz="2400" dirty="0">
                <a:solidFill>
                  <a:schemeClr val="tx1"/>
                </a:solidFill>
              </a:rPr>
              <a:t>.</a:t>
            </a:r>
          </a:p>
          <a:p>
            <a:r>
              <a:rPr lang="en-US" sz="2400" b="1" dirty="0">
                <a:solidFill>
                  <a:schemeClr val="tx1"/>
                </a:solidFill>
              </a:rPr>
              <a:t>Max savings: </a:t>
            </a:r>
            <a:r>
              <a:rPr lang="en-US" sz="2400" dirty="0">
                <a:solidFill>
                  <a:schemeClr val="tx1"/>
                </a:solidFill>
              </a:rPr>
              <a:t>for each site, pick the availability that maximizes total € savings vs gas:</a:t>
            </a:r>
            <a:br>
              <a:rPr lang="en-US" sz="2400" dirty="0">
                <a:solidFill>
                  <a:schemeClr val="tx1"/>
                </a:solidFill>
              </a:rPr>
            </a:br>
            <a:r>
              <a:rPr lang="en-US" sz="2400" dirty="0">
                <a:solidFill>
                  <a:schemeClr val="tx1"/>
                </a:solidFill>
              </a:rPr>
              <a:t>served heat × (gas cost − LCOH). Goal: </a:t>
            </a:r>
            <a:r>
              <a:rPr lang="en-US" sz="2400" b="1" dirty="0">
                <a:solidFill>
                  <a:schemeClr val="tx1"/>
                </a:solidFill>
              </a:rPr>
              <a:t>largest bill savings</a:t>
            </a:r>
            <a:r>
              <a:rPr lang="en-US" sz="2400" dirty="0">
                <a:solidFill>
                  <a:schemeClr val="tx1"/>
                </a:solidFill>
              </a:rPr>
              <a:t>, even if that means serving less heat.</a:t>
            </a:r>
          </a:p>
        </p:txBody>
      </p:sp>
      <p:sp>
        <p:nvSpPr>
          <p:cNvPr id="22" name="TextBox 21">
            <a:extLst>
              <a:ext uri="{FF2B5EF4-FFF2-40B4-BE49-F238E27FC236}">
                <a16:creationId xmlns:a16="http://schemas.microsoft.com/office/drawing/2014/main" id="{5474AC5C-7257-0196-3CE2-BDB4C565107C}"/>
              </a:ext>
            </a:extLst>
          </p:cNvPr>
          <p:cNvSpPr txBox="1"/>
          <p:nvPr/>
        </p:nvSpPr>
        <p:spPr>
          <a:xfrm>
            <a:off x="15408425" y="35991074"/>
            <a:ext cx="14426589" cy="769441"/>
          </a:xfrm>
          <a:prstGeom prst="rect">
            <a:avLst/>
          </a:prstGeom>
          <a:solidFill>
            <a:schemeClr val="accent1">
              <a:lumMod val="75000"/>
            </a:schemeClr>
          </a:solidFill>
        </p:spPr>
        <p:txBody>
          <a:bodyPr wrap="square" rtlCol="0">
            <a:spAutoFit/>
          </a:bodyPr>
          <a:lstStyle/>
          <a:p>
            <a:pPr algn="ctr"/>
            <a:r>
              <a:rPr lang="en-US" sz="4400" dirty="0">
                <a:solidFill>
                  <a:schemeClr val="bg1"/>
                </a:solidFill>
              </a:rPr>
              <a:t>Conclusion</a:t>
            </a:r>
          </a:p>
        </p:txBody>
      </p:sp>
      <p:sp>
        <p:nvSpPr>
          <p:cNvPr id="23" name="Rectangle 22">
            <a:extLst>
              <a:ext uri="{FF2B5EF4-FFF2-40B4-BE49-F238E27FC236}">
                <a16:creationId xmlns:a16="http://schemas.microsoft.com/office/drawing/2014/main" id="{73B017FB-8F9D-F71B-06ED-D28373D5EA2E}"/>
              </a:ext>
            </a:extLst>
          </p:cNvPr>
          <p:cNvSpPr/>
          <p:nvPr/>
        </p:nvSpPr>
        <p:spPr>
          <a:xfrm>
            <a:off x="15408425" y="36930414"/>
            <a:ext cx="14402316" cy="5293352"/>
          </a:xfrm>
          <a:prstGeom prst="rect">
            <a:avLst/>
          </a:prstGeom>
          <a:solidFill>
            <a:schemeClr val="accent1">
              <a:lumMod val="20000"/>
              <a:lumOff val="8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914400" lvl="1" indent="-457200">
              <a:buFont typeface="Arial" panose="020B0604020202020204" pitchFamily="34" charset="0"/>
              <a:buChar char="•"/>
            </a:pPr>
            <a:r>
              <a:rPr lang="en-US" sz="2800" dirty="0">
                <a:solidFill>
                  <a:schemeClr val="tx1"/>
                </a:solidFill>
              </a:rPr>
              <a:t>Germany, the Netherlands, and France have very large process-heat demand. With a ~15 km land buffer, a large majority can be served below country gas. At 5 km, Germany and the Netherlands remain more land-constrained.</a:t>
            </a:r>
          </a:p>
          <a:p>
            <a:pPr marL="914400" lvl="1" indent="-457200">
              <a:buFont typeface="Arial" panose="020B0604020202020204" pitchFamily="34" charset="0"/>
              <a:buChar char="•"/>
            </a:pPr>
            <a:r>
              <a:rPr lang="en-US" sz="2800" dirty="0">
                <a:solidFill>
                  <a:schemeClr val="tx1"/>
                </a:solidFill>
              </a:rPr>
              <a:t>Southern Europe (Greece, Spain, Italy, Portugal) is the strongest fit: ~95% of demand served at LCOH roughly </a:t>
            </a:r>
            <a:r>
              <a:rPr lang="en-US" sz="2800" b="1" dirty="0">
                <a:solidFill>
                  <a:schemeClr val="tx1"/>
                </a:solidFill>
              </a:rPr>
              <a:t>70–75% of country gas</a:t>
            </a:r>
            <a:r>
              <a:rPr lang="en-US" sz="2800" dirty="0">
                <a:solidFill>
                  <a:schemeClr val="tx1"/>
                </a:solidFill>
              </a:rPr>
              <a:t> (closer to ~half gas under a max-savings framing). Sites tend to be smaller, with better solar yield.</a:t>
            </a:r>
          </a:p>
          <a:p>
            <a:pPr marL="914400" lvl="1" indent="-457200">
              <a:buFont typeface="Arial" panose="020B0604020202020204" pitchFamily="34" charset="0"/>
              <a:buChar char="•"/>
            </a:pPr>
            <a:r>
              <a:rPr lang="en-US" sz="2800" dirty="0">
                <a:solidFill>
                  <a:schemeClr val="tx1"/>
                </a:solidFill>
              </a:rPr>
              <a:t>For high-temperature processes, this solution can decarbonize a high share of </a:t>
            </a:r>
            <a:r>
              <a:rPr lang="en-US" sz="2800" b="1" dirty="0">
                <a:solidFill>
                  <a:schemeClr val="tx1"/>
                </a:solidFill>
              </a:rPr>
              <a:t>replaceable</a:t>
            </a:r>
            <a:r>
              <a:rPr lang="en-US" sz="2800" dirty="0">
                <a:solidFill>
                  <a:schemeClr val="tx1"/>
                </a:solidFill>
              </a:rPr>
              <a:t> heat (~80% for steel and steam cracking at 15 km), even if not 100% everywhere.</a:t>
            </a:r>
          </a:p>
          <a:p>
            <a:pPr marL="914400" lvl="1" indent="-457200">
              <a:buFont typeface="Arial" panose="020B0604020202020204" pitchFamily="34" charset="0"/>
              <a:buChar char="•"/>
            </a:pPr>
            <a:r>
              <a:rPr lang="en-US" sz="2800" dirty="0">
                <a:solidFill>
                  <a:schemeClr val="tx1"/>
                </a:solidFill>
              </a:rPr>
              <a:t>By meeting heat on-site with solar + storage, this package can reduce reliance on gas boilers and incremental electric load on the local grid, potentially easing upgrades and gas exposure, and offers a deployable path to cheaper cleaner heat. </a:t>
            </a:r>
          </a:p>
        </p:txBody>
      </p:sp>
      <p:sp>
        <p:nvSpPr>
          <p:cNvPr id="25" name="Off-page Connector 24">
            <a:extLst>
              <a:ext uri="{FF2B5EF4-FFF2-40B4-BE49-F238E27FC236}">
                <a16:creationId xmlns:a16="http://schemas.microsoft.com/office/drawing/2014/main" id="{2D8BE4D1-285B-FCEC-DBAA-F61A98C8E3DE}"/>
              </a:ext>
            </a:extLst>
          </p:cNvPr>
          <p:cNvSpPr/>
          <p:nvPr/>
        </p:nvSpPr>
        <p:spPr>
          <a:xfrm>
            <a:off x="16749093" y="13341958"/>
            <a:ext cx="3818965" cy="1488773"/>
          </a:xfrm>
          <a:prstGeom prst="flowChartOffpage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b="1" dirty="0"/>
              <a:t>Facility-level Production Data</a:t>
            </a:r>
          </a:p>
        </p:txBody>
      </p:sp>
      <p:sp>
        <p:nvSpPr>
          <p:cNvPr id="27" name="Off-page Connector 26">
            <a:extLst>
              <a:ext uri="{FF2B5EF4-FFF2-40B4-BE49-F238E27FC236}">
                <a16:creationId xmlns:a16="http://schemas.microsoft.com/office/drawing/2014/main" id="{513900E2-32DF-2A9E-0A72-F160ECEC3381}"/>
              </a:ext>
            </a:extLst>
          </p:cNvPr>
          <p:cNvSpPr/>
          <p:nvPr/>
        </p:nvSpPr>
        <p:spPr>
          <a:xfrm>
            <a:off x="20881434" y="13341958"/>
            <a:ext cx="3818966" cy="1488773"/>
          </a:xfrm>
          <a:prstGeom prst="flowChartOffpage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b="1" dirty="0"/>
              <a:t>Solar Radiation</a:t>
            </a:r>
          </a:p>
        </p:txBody>
      </p:sp>
      <p:sp>
        <p:nvSpPr>
          <p:cNvPr id="28" name="Off-page Connector 27">
            <a:extLst>
              <a:ext uri="{FF2B5EF4-FFF2-40B4-BE49-F238E27FC236}">
                <a16:creationId xmlns:a16="http://schemas.microsoft.com/office/drawing/2014/main" id="{C65BCD52-860D-3DC4-91F5-94F0FB7DE8DA}"/>
              </a:ext>
            </a:extLst>
          </p:cNvPr>
          <p:cNvSpPr/>
          <p:nvPr/>
        </p:nvSpPr>
        <p:spPr>
          <a:xfrm>
            <a:off x="25013776" y="13341958"/>
            <a:ext cx="3818966" cy="1488773"/>
          </a:xfrm>
          <a:prstGeom prst="flowChartOffpage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b="1" dirty="0"/>
              <a:t>Land Availability</a:t>
            </a:r>
          </a:p>
        </p:txBody>
      </p:sp>
      <p:sp>
        <p:nvSpPr>
          <p:cNvPr id="29" name="Off-page Connector 28">
            <a:extLst>
              <a:ext uri="{FF2B5EF4-FFF2-40B4-BE49-F238E27FC236}">
                <a16:creationId xmlns:a16="http://schemas.microsoft.com/office/drawing/2014/main" id="{5FF57B84-69FA-28E6-1300-4C9EB5713E0F}"/>
              </a:ext>
            </a:extLst>
          </p:cNvPr>
          <p:cNvSpPr/>
          <p:nvPr/>
        </p:nvSpPr>
        <p:spPr>
          <a:xfrm>
            <a:off x="18658575" y="14842426"/>
            <a:ext cx="8588188" cy="2063330"/>
          </a:xfrm>
          <a:prstGeom prst="flowChartOffpage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t>Optimization</a:t>
            </a:r>
          </a:p>
          <a:p>
            <a:pPr algn="ctr"/>
            <a:r>
              <a:rPr lang="en-US" sz="3200" dirty="0"/>
              <a:t>Minimize LCOH subject to energy balance, solar capacity and land availability</a:t>
            </a:r>
          </a:p>
        </p:txBody>
      </p:sp>
      <p:sp>
        <p:nvSpPr>
          <p:cNvPr id="30" name="Off-page Connector 29">
            <a:extLst>
              <a:ext uri="{FF2B5EF4-FFF2-40B4-BE49-F238E27FC236}">
                <a16:creationId xmlns:a16="http://schemas.microsoft.com/office/drawing/2014/main" id="{E83A7A59-BD82-677C-0421-41763461BD18}"/>
              </a:ext>
            </a:extLst>
          </p:cNvPr>
          <p:cNvSpPr/>
          <p:nvPr/>
        </p:nvSpPr>
        <p:spPr>
          <a:xfrm>
            <a:off x="18640206" y="16905756"/>
            <a:ext cx="8588188" cy="1601940"/>
          </a:xfrm>
          <a:prstGeom prst="flowChartOffpage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t>% of total heat decarbonized and savings</a:t>
            </a:r>
          </a:p>
        </p:txBody>
      </p:sp>
      <p:graphicFrame>
        <p:nvGraphicFramePr>
          <p:cNvPr id="51" name="Table 50">
            <a:extLst>
              <a:ext uri="{FF2B5EF4-FFF2-40B4-BE49-F238E27FC236}">
                <a16:creationId xmlns:a16="http://schemas.microsoft.com/office/drawing/2014/main" id="{F1479EF4-1E29-74B5-0622-46A82796BE34}"/>
              </a:ext>
            </a:extLst>
          </p:cNvPr>
          <p:cNvGraphicFramePr>
            <a:graphicFrameLocks noGrp="1"/>
          </p:cNvGraphicFramePr>
          <p:nvPr>
            <p:extLst>
              <p:ext uri="{D42A27DB-BD31-4B8C-83A1-F6EECF244321}">
                <p14:modId xmlns:p14="http://schemas.microsoft.com/office/powerpoint/2010/main" val="2338397792"/>
              </p:ext>
            </p:extLst>
          </p:nvPr>
        </p:nvGraphicFramePr>
        <p:xfrm>
          <a:off x="544642" y="14949219"/>
          <a:ext cx="14629828" cy="3074836"/>
        </p:xfrm>
        <a:graphic>
          <a:graphicData uri="http://schemas.openxmlformats.org/drawingml/2006/table">
            <a:tbl>
              <a:tblPr firstRow="1" firstCol="1" bandRow="1">
                <a:tableStyleId>{5C22544A-7EE6-4342-B048-85BDC9FD1C3A}</a:tableStyleId>
              </a:tblPr>
              <a:tblGrid>
                <a:gridCol w="7354385">
                  <a:extLst>
                    <a:ext uri="{9D8B030D-6E8A-4147-A177-3AD203B41FA5}">
                      <a16:colId xmlns:a16="http://schemas.microsoft.com/office/drawing/2014/main" val="545458824"/>
                    </a:ext>
                  </a:extLst>
                </a:gridCol>
                <a:gridCol w="3439618">
                  <a:extLst>
                    <a:ext uri="{9D8B030D-6E8A-4147-A177-3AD203B41FA5}">
                      <a16:colId xmlns:a16="http://schemas.microsoft.com/office/drawing/2014/main" val="45971496"/>
                    </a:ext>
                  </a:extLst>
                </a:gridCol>
                <a:gridCol w="3835825">
                  <a:extLst>
                    <a:ext uri="{9D8B030D-6E8A-4147-A177-3AD203B41FA5}">
                      <a16:colId xmlns:a16="http://schemas.microsoft.com/office/drawing/2014/main" val="1642746274"/>
                    </a:ext>
                  </a:extLst>
                </a:gridCol>
              </a:tblGrid>
              <a:tr h="588461">
                <a:tc>
                  <a:txBody>
                    <a:bodyPr/>
                    <a:lstStyle/>
                    <a:p>
                      <a:pPr algn="r" fontAlgn="t">
                        <a:buNone/>
                      </a:pPr>
                      <a:endParaRPr lang="en-US" sz="3200" b="1" i="0" dirty="0">
                        <a:effectLst/>
                        <a:latin typeface="-apple-system"/>
                      </a:endParaRPr>
                    </a:p>
                  </a:txBody>
                  <a:tcPr marL="85725" marR="85725" marT="47625" marB="47625"/>
                </a:tc>
                <a:tc>
                  <a:txBody>
                    <a:bodyPr/>
                    <a:lstStyle/>
                    <a:p>
                      <a:pPr algn="r" fontAlgn="t">
                        <a:buNone/>
                      </a:pPr>
                      <a:r>
                        <a:rPr lang="en-US" sz="3200" b="1" i="0" dirty="0">
                          <a:effectLst/>
                          <a:latin typeface="-apple-system"/>
                        </a:rPr>
                        <a:t>5 km</a:t>
                      </a:r>
                    </a:p>
                  </a:txBody>
                  <a:tcPr marL="85725" marR="85725" marT="47625" marB="47625"/>
                </a:tc>
                <a:tc>
                  <a:txBody>
                    <a:bodyPr/>
                    <a:lstStyle/>
                    <a:p>
                      <a:pPr algn="r" fontAlgn="t">
                        <a:buNone/>
                      </a:pPr>
                      <a:r>
                        <a:rPr lang="en-US" sz="3200" b="1" i="0" dirty="0">
                          <a:effectLst/>
                          <a:latin typeface="-apple-system"/>
                        </a:rPr>
                        <a:t>15 km</a:t>
                      </a:r>
                    </a:p>
                  </a:txBody>
                  <a:tcPr marL="85725" marR="85725" marT="47625" marB="47625"/>
                </a:tc>
                <a:extLst>
                  <a:ext uri="{0D108BD9-81ED-4DB2-BD59-A6C34878D82A}">
                    <a16:rowId xmlns:a16="http://schemas.microsoft.com/office/drawing/2014/main" val="3445575491"/>
                  </a:ext>
                </a:extLst>
              </a:tr>
              <a:tr h="653143">
                <a:tc>
                  <a:txBody>
                    <a:bodyPr/>
                    <a:lstStyle/>
                    <a:p>
                      <a:pPr algn="l" fontAlgn="t" latinLnBrk="0">
                        <a:buNone/>
                      </a:pPr>
                      <a:r>
                        <a:rPr lang="en-US" sz="3200" b="0" i="0" dirty="0">
                          <a:effectLst/>
                          <a:latin typeface="-apple-system"/>
                        </a:rPr>
                        <a:t>Served (max heat)</a:t>
                      </a:r>
                    </a:p>
                  </a:txBody>
                  <a:tcPr marL="85725" marR="85725" marT="47625" marB="47625"/>
                </a:tc>
                <a:tc>
                  <a:txBody>
                    <a:bodyPr/>
                    <a:lstStyle/>
                    <a:p>
                      <a:pPr algn="r" fontAlgn="t" latinLnBrk="0">
                        <a:buNone/>
                      </a:pPr>
                      <a:r>
                        <a:rPr lang="en-US" sz="3200" b="0" i="0" dirty="0">
                          <a:effectLst/>
                          <a:latin typeface="-apple-system"/>
                        </a:rPr>
                        <a:t>58.8% (307 TWh)</a:t>
                      </a:r>
                    </a:p>
                  </a:txBody>
                  <a:tcPr marL="85725" marR="85725" marT="47625" marB="47625"/>
                </a:tc>
                <a:tc>
                  <a:txBody>
                    <a:bodyPr/>
                    <a:lstStyle/>
                    <a:p>
                      <a:pPr algn="r" fontAlgn="t" latinLnBrk="0">
                        <a:buNone/>
                      </a:pPr>
                      <a:r>
                        <a:rPr lang="en-US" sz="3200" b="0" i="0">
                          <a:effectLst/>
                          <a:latin typeface="-apple-system"/>
                        </a:rPr>
                        <a:t>84.4% (441 TWh)</a:t>
                      </a:r>
                    </a:p>
                  </a:txBody>
                  <a:tcPr marL="85725" marR="85725" marT="47625" marB="47625"/>
                </a:tc>
                <a:extLst>
                  <a:ext uri="{0D108BD9-81ED-4DB2-BD59-A6C34878D82A}">
                    <a16:rowId xmlns:a16="http://schemas.microsoft.com/office/drawing/2014/main" val="641207515"/>
                  </a:ext>
                </a:extLst>
              </a:tr>
              <a:tr h="615820">
                <a:tc>
                  <a:txBody>
                    <a:bodyPr/>
                    <a:lstStyle/>
                    <a:p>
                      <a:pPr algn="l" fontAlgn="t" latinLnBrk="0">
                        <a:buNone/>
                      </a:pPr>
                      <a:r>
                        <a:rPr lang="en-US" sz="3200" b="0" i="0" dirty="0">
                          <a:effectLst/>
                          <a:latin typeface="-apple-system"/>
                        </a:rPr>
                        <a:t>LCOH (max heat)</a:t>
                      </a:r>
                    </a:p>
                  </a:txBody>
                  <a:tcPr marL="85725" marR="85725" marT="47625" marB="47625"/>
                </a:tc>
                <a:tc>
                  <a:txBody>
                    <a:bodyPr/>
                    <a:lstStyle/>
                    <a:p>
                      <a:pPr algn="r" fontAlgn="t" latinLnBrk="0">
                        <a:buNone/>
                      </a:pPr>
                      <a:r>
                        <a:rPr lang="en-US" sz="3200" b="0" i="0">
                          <a:effectLst/>
                          <a:latin typeface="-apple-system"/>
                        </a:rPr>
                        <a:t>€55</a:t>
                      </a:r>
                    </a:p>
                  </a:txBody>
                  <a:tcPr marL="85725" marR="85725" marT="47625" marB="47625"/>
                </a:tc>
                <a:tc>
                  <a:txBody>
                    <a:bodyPr/>
                    <a:lstStyle/>
                    <a:p>
                      <a:pPr algn="r" fontAlgn="t" latinLnBrk="0">
                        <a:buNone/>
                      </a:pPr>
                      <a:r>
                        <a:rPr lang="en-US" sz="3200" b="0" i="0">
                          <a:effectLst/>
                          <a:latin typeface="-apple-system"/>
                        </a:rPr>
                        <a:t>€62</a:t>
                      </a:r>
                    </a:p>
                  </a:txBody>
                  <a:tcPr marL="85725" marR="85725" marT="47625" marB="47625"/>
                </a:tc>
                <a:extLst>
                  <a:ext uri="{0D108BD9-81ED-4DB2-BD59-A6C34878D82A}">
                    <a16:rowId xmlns:a16="http://schemas.microsoft.com/office/drawing/2014/main" val="1278454618"/>
                  </a:ext>
                </a:extLst>
              </a:tr>
              <a:tr h="634482">
                <a:tc>
                  <a:txBody>
                    <a:bodyPr/>
                    <a:lstStyle/>
                    <a:p>
                      <a:pPr algn="l" fontAlgn="t" latinLnBrk="0">
                        <a:buNone/>
                      </a:pPr>
                      <a:r>
                        <a:rPr lang="en-US" sz="3200" b="0" i="0" dirty="0">
                          <a:effectLst/>
                          <a:latin typeface="-apple-system"/>
                        </a:rPr>
                        <a:t>Served (max savings)</a:t>
                      </a:r>
                    </a:p>
                  </a:txBody>
                  <a:tcPr marL="85725" marR="85725" marT="47625" marB="47625"/>
                </a:tc>
                <a:tc>
                  <a:txBody>
                    <a:bodyPr/>
                    <a:lstStyle/>
                    <a:p>
                      <a:pPr algn="r" fontAlgn="t" latinLnBrk="0">
                        <a:buNone/>
                      </a:pPr>
                      <a:r>
                        <a:rPr lang="en-US" sz="3200" b="1" i="0">
                          <a:effectLst/>
                          <a:latin typeface="-apple-system"/>
                        </a:rPr>
                        <a:t>53.2% (278 TWh)</a:t>
                      </a:r>
                      <a:endParaRPr lang="en-US" sz="3200" b="0" i="0">
                        <a:effectLst/>
                        <a:latin typeface="-apple-system"/>
                      </a:endParaRPr>
                    </a:p>
                  </a:txBody>
                  <a:tcPr marL="85725" marR="85725" marT="47625" marB="47625"/>
                </a:tc>
                <a:tc>
                  <a:txBody>
                    <a:bodyPr/>
                    <a:lstStyle/>
                    <a:p>
                      <a:pPr algn="r" fontAlgn="t" latinLnBrk="0">
                        <a:buNone/>
                      </a:pPr>
                      <a:r>
                        <a:rPr lang="en-US" sz="3200" b="1" i="0">
                          <a:effectLst/>
                          <a:latin typeface="-apple-system"/>
                        </a:rPr>
                        <a:t>72.1% (377 TWh)</a:t>
                      </a:r>
                      <a:endParaRPr lang="en-US" sz="3200" b="0" i="0">
                        <a:effectLst/>
                        <a:latin typeface="-apple-system"/>
                      </a:endParaRPr>
                    </a:p>
                  </a:txBody>
                  <a:tcPr marL="85725" marR="85725" marT="47625" marB="47625"/>
                </a:tc>
                <a:extLst>
                  <a:ext uri="{0D108BD9-81ED-4DB2-BD59-A6C34878D82A}">
                    <a16:rowId xmlns:a16="http://schemas.microsoft.com/office/drawing/2014/main" val="3031113668"/>
                  </a:ext>
                </a:extLst>
              </a:tr>
              <a:tr h="578498">
                <a:tc>
                  <a:txBody>
                    <a:bodyPr/>
                    <a:lstStyle/>
                    <a:p>
                      <a:pPr algn="l" fontAlgn="t" latinLnBrk="0">
                        <a:buNone/>
                      </a:pPr>
                      <a:r>
                        <a:rPr lang="en-US" sz="3200" b="0" i="0" dirty="0">
                          <a:effectLst/>
                          <a:latin typeface="-apple-system"/>
                        </a:rPr>
                        <a:t>LCOH (max savings)</a:t>
                      </a:r>
                    </a:p>
                  </a:txBody>
                  <a:tcPr marL="85725" marR="85725" marT="47625" marB="47625"/>
                </a:tc>
                <a:tc>
                  <a:txBody>
                    <a:bodyPr/>
                    <a:lstStyle/>
                    <a:p>
                      <a:pPr algn="r" fontAlgn="t" latinLnBrk="0">
                        <a:buNone/>
                      </a:pPr>
                      <a:r>
                        <a:rPr lang="en-US" sz="3200" b="1" i="0" dirty="0">
                          <a:effectLst/>
                          <a:latin typeface="-apple-system"/>
                        </a:rPr>
                        <a:t>€41</a:t>
                      </a:r>
                      <a:endParaRPr lang="en-US" sz="3200" b="0" i="0" dirty="0">
                        <a:effectLst/>
                        <a:latin typeface="-apple-system"/>
                      </a:endParaRPr>
                    </a:p>
                  </a:txBody>
                  <a:tcPr marL="85725" marR="85725" marT="47625" marB="47625"/>
                </a:tc>
                <a:tc>
                  <a:txBody>
                    <a:bodyPr/>
                    <a:lstStyle/>
                    <a:p>
                      <a:pPr algn="r" fontAlgn="t" latinLnBrk="0">
                        <a:buNone/>
                      </a:pPr>
                      <a:r>
                        <a:rPr lang="en-US" sz="3200" b="1" i="0" dirty="0">
                          <a:effectLst/>
                          <a:latin typeface="-apple-system"/>
                        </a:rPr>
                        <a:t>€42</a:t>
                      </a:r>
                      <a:endParaRPr lang="en-US" sz="3200" b="0" i="0" dirty="0">
                        <a:effectLst/>
                        <a:latin typeface="-apple-system"/>
                      </a:endParaRPr>
                    </a:p>
                  </a:txBody>
                  <a:tcPr marL="85725" marR="85725" marT="47625" marB="47625"/>
                </a:tc>
                <a:extLst>
                  <a:ext uri="{0D108BD9-81ED-4DB2-BD59-A6C34878D82A}">
                    <a16:rowId xmlns:a16="http://schemas.microsoft.com/office/drawing/2014/main" val="1338207278"/>
                  </a:ext>
                </a:extLst>
              </a:tr>
            </a:tbl>
          </a:graphicData>
        </a:graphic>
      </p:graphicFrame>
      <p:cxnSp>
        <p:nvCxnSpPr>
          <p:cNvPr id="61" name="Curved Connector 60">
            <a:extLst>
              <a:ext uri="{FF2B5EF4-FFF2-40B4-BE49-F238E27FC236}">
                <a16:creationId xmlns:a16="http://schemas.microsoft.com/office/drawing/2014/main" id="{E7F4CBDF-3459-55FD-F4C8-B4C9EC1B1ACF}"/>
              </a:ext>
            </a:extLst>
          </p:cNvPr>
          <p:cNvCxnSpPr>
            <a:cxnSpLocks/>
            <a:stCxn id="46" idx="3"/>
            <a:endCxn id="54" idx="1"/>
          </p:cNvCxnSpPr>
          <p:nvPr/>
        </p:nvCxnSpPr>
        <p:spPr>
          <a:xfrm>
            <a:off x="18168173" y="9038243"/>
            <a:ext cx="4457051" cy="1524313"/>
          </a:xfrm>
          <a:prstGeom prst="curvedConnector3">
            <a:avLst>
              <a:gd name="adj1" fmla="val 18816"/>
            </a:avLst>
          </a:prstGeom>
          <a:ln w="76200">
            <a:solidFill>
              <a:srgbClr val="FF0000"/>
            </a:solidFill>
            <a:tailEnd type="triangle"/>
          </a:ln>
        </p:spPr>
        <p:style>
          <a:lnRef idx="2">
            <a:schemeClr val="accent2"/>
          </a:lnRef>
          <a:fillRef idx="0">
            <a:schemeClr val="accent2"/>
          </a:fillRef>
          <a:effectRef idx="1">
            <a:schemeClr val="accent2"/>
          </a:effectRef>
          <a:fontRef idx="minor">
            <a:schemeClr val="tx1"/>
          </a:fontRef>
        </p:style>
      </p:cxnSp>
      <p:cxnSp>
        <p:nvCxnSpPr>
          <p:cNvPr id="75" name="Straight Arrow Connector 74">
            <a:extLst>
              <a:ext uri="{FF2B5EF4-FFF2-40B4-BE49-F238E27FC236}">
                <a16:creationId xmlns:a16="http://schemas.microsoft.com/office/drawing/2014/main" id="{E07E0C74-A6C2-8A68-2692-21188BE5CA3F}"/>
              </a:ext>
            </a:extLst>
          </p:cNvPr>
          <p:cNvCxnSpPr>
            <a:stCxn id="46" idx="3"/>
            <a:endCxn id="53" idx="1"/>
          </p:cNvCxnSpPr>
          <p:nvPr/>
        </p:nvCxnSpPr>
        <p:spPr>
          <a:xfrm flipV="1">
            <a:off x="18168173" y="8958093"/>
            <a:ext cx="2128085" cy="80150"/>
          </a:xfrm>
          <a:prstGeom prst="straightConnector1">
            <a:avLst/>
          </a:prstGeom>
          <a:ln w="76200">
            <a:solidFill>
              <a:srgbClr val="FFC000"/>
            </a:solidFill>
            <a:tailEnd type="triangle"/>
          </a:ln>
        </p:spPr>
        <p:style>
          <a:lnRef idx="2">
            <a:schemeClr val="accent1"/>
          </a:lnRef>
          <a:fillRef idx="0">
            <a:schemeClr val="accent1"/>
          </a:fillRef>
          <a:effectRef idx="1">
            <a:schemeClr val="accent1"/>
          </a:effectRef>
          <a:fontRef idx="minor">
            <a:schemeClr val="tx1"/>
          </a:fontRef>
        </p:style>
      </p:cxnSp>
      <p:cxnSp>
        <p:nvCxnSpPr>
          <p:cNvPr id="78" name="Curved Connector 77">
            <a:extLst>
              <a:ext uri="{FF2B5EF4-FFF2-40B4-BE49-F238E27FC236}">
                <a16:creationId xmlns:a16="http://schemas.microsoft.com/office/drawing/2014/main" id="{E700D43E-6A5D-9255-E42F-BCB91172777E}"/>
              </a:ext>
            </a:extLst>
          </p:cNvPr>
          <p:cNvCxnSpPr>
            <a:cxnSpLocks/>
            <a:stCxn id="53" idx="3"/>
            <a:endCxn id="52" idx="2"/>
          </p:cNvCxnSpPr>
          <p:nvPr/>
        </p:nvCxnSpPr>
        <p:spPr>
          <a:xfrm flipV="1">
            <a:off x="21921858" y="8190901"/>
            <a:ext cx="1933778" cy="767192"/>
          </a:xfrm>
          <a:prstGeom prst="curvedConnector2">
            <a:avLst/>
          </a:prstGeom>
          <a:ln w="76200">
            <a:solidFill>
              <a:srgbClr val="FFC000"/>
            </a:solidFill>
            <a:tailEnd type="triangle"/>
          </a:ln>
        </p:spPr>
        <p:style>
          <a:lnRef idx="2">
            <a:schemeClr val="accent1"/>
          </a:lnRef>
          <a:fillRef idx="0">
            <a:schemeClr val="accent1"/>
          </a:fillRef>
          <a:effectRef idx="1">
            <a:schemeClr val="accent1"/>
          </a:effectRef>
          <a:fontRef idx="minor">
            <a:schemeClr val="tx1"/>
          </a:fontRef>
        </p:style>
      </p:cxnSp>
      <p:pic>
        <p:nvPicPr>
          <p:cNvPr id="46" name="Picture 45">
            <a:extLst>
              <a:ext uri="{FF2B5EF4-FFF2-40B4-BE49-F238E27FC236}">
                <a16:creationId xmlns:a16="http://schemas.microsoft.com/office/drawing/2014/main" id="{40650209-40A7-33A3-7F62-96F881923DB5}"/>
              </a:ext>
            </a:extLst>
          </p:cNvPr>
          <p:cNvPicPr>
            <a:picLocks noChangeAspect="1"/>
          </p:cNvPicPr>
          <p:nvPr/>
        </p:nvPicPr>
        <p:blipFill>
          <a:blip r:embed="rId4"/>
          <a:stretch>
            <a:fillRect/>
          </a:stretch>
        </p:blipFill>
        <p:spPr>
          <a:xfrm>
            <a:off x="16177261" y="8042787"/>
            <a:ext cx="1990912" cy="1990912"/>
          </a:xfrm>
          <a:prstGeom prst="rect">
            <a:avLst/>
          </a:prstGeom>
        </p:spPr>
      </p:pic>
      <p:pic>
        <p:nvPicPr>
          <p:cNvPr id="52" name="Picture 51">
            <a:extLst>
              <a:ext uri="{FF2B5EF4-FFF2-40B4-BE49-F238E27FC236}">
                <a16:creationId xmlns:a16="http://schemas.microsoft.com/office/drawing/2014/main" id="{4C55A2BD-4869-F4E1-A17D-98F3FB78B9DC}"/>
              </a:ext>
            </a:extLst>
          </p:cNvPr>
          <p:cNvPicPr>
            <a:picLocks noChangeAspect="1"/>
          </p:cNvPicPr>
          <p:nvPr/>
        </p:nvPicPr>
        <p:blipFill>
          <a:blip r:embed="rId5"/>
          <a:stretch>
            <a:fillRect/>
          </a:stretch>
        </p:blipFill>
        <p:spPr>
          <a:xfrm>
            <a:off x="22979620" y="6438870"/>
            <a:ext cx="1752031" cy="1752031"/>
          </a:xfrm>
          <a:prstGeom prst="rect">
            <a:avLst/>
          </a:prstGeom>
        </p:spPr>
      </p:pic>
      <p:pic>
        <p:nvPicPr>
          <p:cNvPr id="53" name="Picture 52">
            <a:extLst>
              <a:ext uri="{FF2B5EF4-FFF2-40B4-BE49-F238E27FC236}">
                <a16:creationId xmlns:a16="http://schemas.microsoft.com/office/drawing/2014/main" id="{C7E378DB-D734-D412-8796-E2A11B41DB91}"/>
              </a:ext>
            </a:extLst>
          </p:cNvPr>
          <p:cNvPicPr>
            <a:picLocks noChangeAspect="1"/>
          </p:cNvPicPr>
          <p:nvPr/>
        </p:nvPicPr>
        <p:blipFill>
          <a:blip r:embed="rId6"/>
          <a:stretch>
            <a:fillRect/>
          </a:stretch>
        </p:blipFill>
        <p:spPr>
          <a:xfrm>
            <a:off x="20296258" y="8145293"/>
            <a:ext cx="1625600" cy="1625600"/>
          </a:xfrm>
          <a:prstGeom prst="rect">
            <a:avLst/>
          </a:prstGeom>
        </p:spPr>
      </p:pic>
      <p:pic>
        <p:nvPicPr>
          <p:cNvPr id="54" name="Picture 53">
            <a:extLst>
              <a:ext uri="{FF2B5EF4-FFF2-40B4-BE49-F238E27FC236}">
                <a16:creationId xmlns:a16="http://schemas.microsoft.com/office/drawing/2014/main" id="{718DD7E0-E770-4228-0A28-54DFFF700458}"/>
              </a:ext>
            </a:extLst>
          </p:cNvPr>
          <p:cNvPicPr>
            <a:picLocks noChangeAspect="1"/>
          </p:cNvPicPr>
          <p:nvPr/>
        </p:nvPicPr>
        <p:blipFill>
          <a:blip r:embed="rId7"/>
          <a:stretch>
            <a:fillRect/>
          </a:stretch>
        </p:blipFill>
        <p:spPr>
          <a:xfrm>
            <a:off x="22625224" y="9359096"/>
            <a:ext cx="2406919" cy="2406919"/>
          </a:xfrm>
          <a:prstGeom prst="rect">
            <a:avLst/>
          </a:prstGeom>
        </p:spPr>
      </p:pic>
      <p:pic>
        <p:nvPicPr>
          <p:cNvPr id="55" name="Picture 54">
            <a:extLst>
              <a:ext uri="{FF2B5EF4-FFF2-40B4-BE49-F238E27FC236}">
                <a16:creationId xmlns:a16="http://schemas.microsoft.com/office/drawing/2014/main" id="{C73E45CC-809B-CDC2-2BBE-26E6ADEFFA3B}"/>
              </a:ext>
            </a:extLst>
          </p:cNvPr>
          <p:cNvPicPr>
            <a:picLocks noChangeAspect="1"/>
          </p:cNvPicPr>
          <p:nvPr/>
        </p:nvPicPr>
        <p:blipFill>
          <a:blip r:embed="rId8"/>
          <a:stretch>
            <a:fillRect/>
          </a:stretch>
        </p:blipFill>
        <p:spPr>
          <a:xfrm>
            <a:off x="26614183" y="7859863"/>
            <a:ext cx="2109955" cy="2109955"/>
          </a:xfrm>
          <a:prstGeom prst="rect">
            <a:avLst/>
          </a:prstGeom>
        </p:spPr>
      </p:pic>
      <p:cxnSp>
        <p:nvCxnSpPr>
          <p:cNvPr id="58" name="Curved Connector 57">
            <a:extLst>
              <a:ext uri="{FF2B5EF4-FFF2-40B4-BE49-F238E27FC236}">
                <a16:creationId xmlns:a16="http://schemas.microsoft.com/office/drawing/2014/main" id="{8DBE7A16-BEAC-CF98-C3E9-3E9283583748}"/>
              </a:ext>
            </a:extLst>
          </p:cNvPr>
          <p:cNvCxnSpPr>
            <a:cxnSpLocks/>
            <a:stCxn id="46" idx="3"/>
            <a:endCxn id="52" idx="1"/>
          </p:cNvCxnSpPr>
          <p:nvPr/>
        </p:nvCxnSpPr>
        <p:spPr>
          <a:xfrm flipV="1">
            <a:off x="18168173" y="7314886"/>
            <a:ext cx="4811447" cy="1723357"/>
          </a:xfrm>
          <a:prstGeom prst="curvedConnector3">
            <a:avLst>
              <a:gd name="adj1" fmla="val 16742"/>
            </a:avLst>
          </a:prstGeom>
          <a:ln w="76200">
            <a:solidFill>
              <a:srgbClr val="FFC000"/>
            </a:solidFill>
            <a:tailEnd type="triangle"/>
          </a:ln>
        </p:spPr>
        <p:style>
          <a:lnRef idx="2">
            <a:schemeClr val="accent2"/>
          </a:lnRef>
          <a:fillRef idx="0">
            <a:schemeClr val="accent2"/>
          </a:fillRef>
          <a:effectRef idx="1">
            <a:schemeClr val="accent2"/>
          </a:effectRef>
          <a:fontRef idx="minor">
            <a:schemeClr val="tx1"/>
          </a:fontRef>
        </p:style>
      </p:cxnSp>
      <p:cxnSp>
        <p:nvCxnSpPr>
          <p:cNvPr id="85" name="Curved Connector 84">
            <a:extLst>
              <a:ext uri="{FF2B5EF4-FFF2-40B4-BE49-F238E27FC236}">
                <a16:creationId xmlns:a16="http://schemas.microsoft.com/office/drawing/2014/main" id="{30FF2EB0-71E2-C3F8-9624-ED695CF17955}"/>
              </a:ext>
            </a:extLst>
          </p:cNvPr>
          <p:cNvCxnSpPr>
            <a:cxnSpLocks/>
            <a:stCxn id="52" idx="3"/>
            <a:endCxn id="55" idx="0"/>
          </p:cNvCxnSpPr>
          <p:nvPr/>
        </p:nvCxnSpPr>
        <p:spPr>
          <a:xfrm>
            <a:off x="24731651" y="7314886"/>
            <a:ext cx="2937510" cy="544977"/>
          </a:xfrm>
          <a:prstGeom prst="curvedConnector2">
            <a:avLst/>
          </a:prstGeom>
          <a:ln w="76200">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88" name="Curved Connector 87">
            <a:extLst>
              <a:ext uri="{FF2B5EF4-FFF2-40B4-BE49-F238E27FC236}">
                <a16:creationId xmlns:a16="http://schemas.microsoft.com/office/drawing/2014/main" id="{0FA588DF-9DD9-5172-EACB-DC88710DD892}"/>
              </a:ext>
            </a:extLst>
          </p:cNvPr>
          <p:cNvCxnSpPr>
            <a:cxnSpLocks/>
            <a:stCxn id="54" idx="3"/>
            <a:endCxn id="55" idx="2"/>
          </p:cNvCxnSpPr>
          <p:nvPr/>
        </p:nvCxnSpPr>
        <p:spPr>
          <a:xfrm flipV="1">
            <a:off x="25032143" y="9969818"/>
            <a:ext cx="2637018" cy="592738"/>
          </a:xfrm>
          <a:prstGeom prst="curvedConnector2">
            <a:avLst/>
          </a:prstGeom>
          <a:ln w="76200">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15" name="TextBox 114">
            <a:extLst>
              <a:ext uri="{FF2B5EF4-FFF2-40B4-BE49-F238E27FC236}">
                <a16:creationId xmlns:a16="http://schemas.microsoft.com/office/drawing/2014/main" id="{9322E18E-134A-6547-416B-BC2B95310010}"/>
              </a:ext>
            </a:extLst>
          </p:cNvPr>
          <p:cNvSpPr txBox="1"/>
          <p:nvPr/>
        </p:nvSpPr>
        <p:spPr>
          <a:xfrm>
            <a:off x="16177261" y="11848234"/>
            <a:ext cx="12655481" cy="1384995"/>
          </a:xfrm>
          <a:prstGeom prst="rect">
            <a:avLst/>
          </a:prstGeom>
          <a:noFill/>
        </p:spPr>
        <p:txBody>
          <a:bodyPr wrap="square" rtlCol="0">
            <a:spAutoFit/>
          </a:bodyPr>
          <a:lstStyle/>
          <a:p>
            <a:r>
              <a:rPr lang="en-US" sz="2800" dirty="0"/>
              <a:t>We model an off-grid solar with heat pump and li-ion battery for &lt;200°C and with industrial heat battery for &gt;=200°C processes. Both can be drop-in technology for steam generation in manufacturing facilities.</a:t>
            </a:r>
          </a:p>
        </p:txBody>
      </p:sp>
      <p:sp>
        <p:nvSpPr>
          <p:cNvPr id="116" name="TextBox 115">
            <a:extLst>
              <a:ext uri="{FF2B5EF4-FFF2-40B4-BE49-F238E27FC236}">
                <a16:creationId xmlns:a16="http://schemas.microsoft.com/office/drawing/2014/main" id="{FFF8DC4B-A26F-8DB8-9482-4FC5F6024018}"/>
              </a:ext>
            </a:extLst>
          </p:cNvPr>
          <p:cNvSpPr txBox="1"/>
          <p:nvPr/>
        </p:nvSpPr>
        <p:spPr>
          <a:xfrm>
            <a:off x="16177261" y="18493567"/>
            <a:ext cx="13025479" cy="1384995"/>
          </a:xfrm>
          <a:prstGeom prst="rect">
            <a:avLst/>
          </a:prstGeom>
          <a:noFill/>
        </p:spPr>
        <p:txBody>
          <a:bodyPr wrap="square" rtlCol="0">
            <a:spAutoFit/>
          </a:bodyPr>
          <a:lstStyle/>
          <a:p>
            <a:r>
              <a:rPr lang="en-US" sz="2800" dirty="0"/>
              <a:t>With the total heat level decarbonized at 10-100% availability, we analyzed the costs and benefit of implementing solutions at different availability served for different sectors and countries. </a:t>
            </a:r>
          </a:p>
        </p:txBody>
      </p:sp>
      <p:sp>
        <p:nvSpPr>
          <p:cNvPr id="3" name="TextBox 2">
            <a:extLst>
              <a:ext uri="{FF2B5EF4-FFF2-40B4-BE49-F238E27FC236}">
                <a16:creationId xmlns:a16="http://schemas.microsoft.com/office/drawing/2014/main" id="{663788E2-24D3-86C1-BB82-8F88FDBA0DBB}"/>
              </a:ext>
            </a:extLst>
          </p:cNvPr>
          <p:cNvSpPr txBox="1"/>
          <p:nvPr/>
        </p:nvSpPr>
        <p:spPr>
          <a:xfrm>
            <a:off x="544642" y="12846061"/>
            <a:ext cx="14605017" cy="830997"/>
          </a:xfrm>
          <a:prstGeom prst="rect">
            <a:avLst/>
          </a:prstGeom>
          <a:noFill/>
        </p:spPr>
        <p:txBody>
          <a:bodyPr wrap="square" rtlCol="0" anchor="ctr">
            <a:spAutoFit/>
          </a:bodyPr>
          <a:lstStyle/>
          <a:p>
            <a:pPr lvl="1"/>
            <a:r>
              <a:rPr lang="en-US" sz="2400" dirty="0"/>
              <a:t>50% of EU industrial process heat demand is above 500°C.</a:t>
            </a:r>
            <a:br>
              <a:rPr lang="en-US" sz="2400" dirty="0"/>
            </a:br>
            <a:r>
              <a:rPr lang="en-US" sz="2400" dirty="0"/>
              <a:t>Industrial heat batteries are the leading option to electrify it, yet grid power costs €77/MWh more than gas.</a:t>
            </a:r>
          </a:p>
        </p:txBody>
      </p:sp>
      <p:sp>
        <p:nvSpPr>
          <p:cNvPr id="20" name="TextBox 19">
            <a:extLst>
              <a:ext uri="{FF2B5EF4-FFF2-40B4-BE49-F238E27FC236}">
                <a16:creationId xmlns:a16="http://schemas.microsoft.com/office/drawing/2014/main" id="{1E6D9917-3C3D-5C1B-7579-2A9A86494561}"/>
              </a:ext>
            </a:extLst>
          </p:cNvPr>
          <p:cNvSpPr txBox="1"/>
          <p:nvPr/>
        </p:nvSpPr>
        <p:spPr>
          <a:xfrm>
            <a:off x="15836806" y="10034822"/>
            <a:ext cx="2933309" cy="461665"/>
          </a:xfrm>
          <a:prstGeom prst="rect">
            <a:avLst/>
          </a:prstGeom>
          <a:noFill/>
        </p:spPr>
        <p:txBody>
          <a:bodyPr wrap="square" rtlCol="0">
            <a:spAutoFit/>
          </a:bodyPr>
          <a:lstStyle/>
          <a:p>
            <a:r>
              <a:rPr lang="en-US" sz="2400" dirty="0"/>
              <a:t>Off-grid solar panels</a:t>
            </a:r>
          </a:p>
        </p:txBody>
      </p:sp>
      <p:sp>
        <p:nvSpPr>
          <p:cNvPr id="21" name="TextBox 20">
            <a:extLst>
              <a:ext uri="{FF2B5EF4-FFF2-40B4-BE49-F238E27FC236}">
                <a16:creationId xmlns:a16="http://schemas.microsoft.com/office/drawing/2014/main" id="{A18C69E3-DCC8-5EA2-8EB6-9146AC7F02CD}"/>
              </a:ext>
            </a:extLst>
          </p:cNvPr>
          <p:cNvSpPr txBox="1"/>
          <p:nvPr/>
        </p:nvSpPr>
        <p:spPr>
          <a:xfrm>
            <a:off x="23044869" y="6058151"/>
            <a:ext cx="1752032" cy="461665"/>
          </a:xfrm>
          <a:prstGeom prst="rect">
            <a:avLst/>
          </a:prstGeom>
          <a:noFill/>
        </p:spPr>
        <p:txBody>
          <a:bodyPr wrap="square" rtlCol="0">
            <a:spAutoFit/>
          </a:bodyPr>
          <a:lstStyle/>
          <a:p>
            <a:r>
              <a:rPr lang="en-US" sz="2400" dirty="0"/>
              <a:t>Heat pump</a:t>
            </a:r>
          </a:p>
        </p:txBody>
      </p:sp>
      <p:sp>
        <p:nvSpPr>
          <p:cNvPr id="24" name="TextBox 23">
            <a:extLst>
              <a:ext uri="{FF2B5EF4-FFF2-40B4-BE49-F238E27FC236}">
                <a16:creationId xmlns:a16="http://schemas.microsoft.com/office/drawing/2014/main" id="{F23AE789-F735-2250-2E1B-80BFDC9056E2}"/>
              </a:ext>
            </a:extLst>
          </p:cNvPr>
          <p:cNvSpPr txBox="1"/>
          <p:nvPr/>
        </p:nvSpPr>
        <p:spPr>
          <a:xfrm>
            <a:off x="19809216" y="6751743"/>
            <a:ext cx="2816008" cy="461665"/>
          </a:xfrm>
          <a:prstGeom prst="rect">
            <a:avLst/>
          </a:prstGeom>
          <a:noFill/>
        </p:spPr>
        <p:txBody>
          <a:bodyPr wrap="square" rtlCol="0">
            <a:spAutoFit/>
          </a:bodyPr>
          <a:lstStyle/>
          <a:p>
            <a:r>
              <a:rPr lang="en-US" sz="2400" dirty="0"/>
              <a:t>Processes &lt; 200°C</a:t>
            </a:r>
          </a:p>
        </p:txBody>
      </p:sp>
      <p:sp>
        <p:nvSpPr>
          <p:cNvPr id="26" name="TextBox 25">
            <a:extLst>
              <a:ext uri="{FF2B5EF4-FFF2-40B4-BE49-F238E27FC236}">
                <a16:creationId xmlns:a16="http://schemas.microsoft.com/office/drawing/2014/main" id="{75B6A9F2-DAD6-75BA-206C-F7391A942BB5}"/>
              </a:ext>
            </a:extLst>
          </p:cNvPr>
          <p:cNvSpPr txBox="1"/>
          <p:nvPr/>
        </p:nvSpPr>
        <p:spPr>
          <a:xfrm>
            <a:off x="19536220" y="10654357"/>
            <a:ext cx="2816008" cy="461665"/>
          </a:xfrm>
          <a:prstGeom prst="rect">
            <a:avLst/>
          </a:prstGeom>
          <a:noFill/>
        </p:spPr>
        <p:txBody>
          <a:bodyPr wrap="square" rtlCol="0">
            <a:spAutoFit/>
          </a:bodyPr>
          <a:lstStyle/>
          <a:p>
            <a:r>
              <a:rPr lang="en-US" sz="2400" dirty="0"/>
              <a:t>Processes &gt;= 200°C</a:t>
            </a:r>
          </a:p>
        </p:txBody>
      </p:sp>
      <p:sp>
        <p:nvSpPr>
          <p:cNvPr id="31" name="TextBox 30">
            <a:extLst>
              <a:ext uri="{FF2B5EF4-FFF2-40B4-BE49-F238E27FC236}">
                <a16:creationId xmlns:a16="http://schemas.microsoft.com/office/drawing/2014/main" id="{FDAE92F9-444F-4F4F-7294-D95F0728B3CB}"/>
              </a:ext>
            </a:extLst>
          </p:cNvPr>
          <p:cNvSpPr txBox="1"/>
          <p:nvPr/>
        </p:nvSpPr>
        <p:spPr>
          <a:xfrm>
            <a:off x="22910519" y="11398758"/>
            <a:ext cx="1891114" cy="461665"/>
          </a:xfrm>
          <a:prstGeom prst="rect">
            <a:avLst/>
          </a:prstGeom>
          <a:noFill/>
        </p:spPr>
        <p:txBody>
          <a:bodyPr wrap="square" rtlCol="0">
            <a:spAutoFit/>
          </a:bodyPr>
          <a:lstStyle/>
          <a:p>
            <a:r>
              <a:rPr lang="en-US" sz="2400" dirty="0"/>
              <a:t>Heat Battery</a:t>
            </a:r>
          </a:p>
        </p:txBody>
      </p:sp>
      <p:sp>
        <p:nvSpPr>
          <p:cNvPr id="32" name="TextBox 31">
            <a:extLst>
              <a:ext uri="{FF2B5EF4-FFF2-40B4-BE49-F238E27FC236}">
                <a16:creationId xmlns:a16="http://schemas.microsoft.com/office/drawing/2014/main" id="{FE032343-9E18-C763-06E0-F41E3F2625F9}"/>
              </a:ext>
            </a:extLst>
          </p:cNvPr>
          <p:cNvSpPr txBox="1"/>
          <p:nvPr/>
        </p:nvSpPr>
        <p:spPr>
          <a:xfrm>
            <a:off x="27228394" y="10193149"/>
            <a:ext cx="1153887" cy="461665"/>
          </a:xfrm>
          <a:prstGeom prst="rect">
            <a:avLst/>
          </a:prstGeom>
          <a:noFill/>
        </p:spPr>
        <p:txBody>
          <a:bodyPr wrap="square" rtlCol="0">
            <a:spAutoFit/>
          </a:bodyPr>
          <a:lstStyle/>
          <a:p>
            <a:r>
              <a:rPr lang="en-US" sz="2400" dirty="0"/>
              <a:t>Facility</a:t>
            </a:r>
          </a:p>
        </p:txBody>
      </p:sp>
      <p:sp>
        <p:nvSpPr>
          <p:cNvPr id="33" name="TextBox 32">
            <a:extLst>
              <a:ext uri="{FF2B5EF4-FFF2-40B4-BE49-F238E27FC236}">
                <a16:creationId xmlns:a16="http://schemas.microsoft.com/office/drawing/2014/main" id="{A31883A8-C62F-A242-988B-FDF875C533F2}"/>
              </a:ext>
            </a:extLst>
          </p:cNvPr>
          <p:cNvSpPr txBox="1"/>
          <p:nvPr/>
        </p:nvSpPr>
        <p:spPr>
          <a:xfrm>
            <a:off x="25474636" y="6673515"/>
            <a:ext cx="1935084" cy="461665"/>
          </a:xfrm>
          <a:prstGeom prst="rect">
            <a:avLst/>
          </a:prstGeom>
          <a:noFill/>
        </p:spPr>
        <p:txBody>
          <a:bodyPr wrap="square" rtlCol="0">
            <a:spAutoFit/>
          </a:bodyPr>
          <a:lstStyle/>
          <a:p>
            <a:r>
              <a:rPr lang="en-US" sz="2400" dirty="0"/>
              <a:t>Heat (Steam)</a:t>
            </a:r>
          </a:p>
        </p:txBody>
      </p:sp>
      <p:sp>
        <p:nvSpPr>
          <p:cNvPr id="4" name="Rectangle 3">
            <a:extLst>
              <a:ext uri="{FF2B5EF4-FFF2-40B4-BE49-F238E27FC236}">
                <a16:creationId xmlns:a16="http://schemas.microsoft.com/office/drawing/2014/main" id="{54C05E89-406D-B816-33B6-55F70C8EB963}"/>
              </a:ext>
            </a:extLst>
          </p:cNvPr>
          <p:cNvSpPr/>
          <p:nvPr/>
        </p:nvSpPr>
        <p:spPr>
          <a:xfrm>
            <a:off x="381357" y="28771419"/>
            <a:ext cx="14756248" cy="2388716"/>
          </a:xfrm>
          <a:prstGeom prst="rect">
            <a:avLst/>
          </a:prstGeom>
          <a:solidFill>
            <a:schemeClr val="accent1">
              <a:lumMod val="20000"/>
              <a:lumOff val="8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US" sz="2800" b="1" dirty="0">
                <a:solidFill>
                  <a:schemeClr val="tx1"/>
                </a:solidFill>
              </a:rPr>
              <a:t>To maximize savings</a:t>
            </a:r>
            <a:r>
              <a:rPr lang="en-US" sz="2800" dirty="0">
                <a:solidFill>
                  <a:schemeClr val="tx1"/>
                </a:solidFill>
              </a:rPr>
              <a:t>, a facility should aim for availability up to the maximum savings points. The remaining can be met with grid electricity or gas. </a:t>
            </a:r>
          </a:p>
          <a:p>
            <a:pPr lvl="1"/>
            <a:r>
              <a:rPr lang="en-US" sz="2800" b="1" dirty="0">
                <a:solidFill>
                  <a:schemeClr val="tx1"/>
                </a:solidFill>
              </a:rPr>
              <a:t>To maximize heat demand served</a:t>
            </a:r>
            <a:r>
              <a:rPr lang="en-US" sz="2800" dirty="0">
                <a:solidFill>
                  <a:schemeClr val="tx1"/>
                </a:solidFill>
              </a:rPr>
              <a:t>, a facility could overbuild solar panels while still being under gas prices resulting in a lower marginal benefit but is still gas competitive.  </a:t>
            </a:r>
          </a:p>
        </p:txBody>
      </p:sp>
      <p:sp>
        <p:nvSpPr>
          <p:cNvPr id="5" name="Rectangle 4">
            <a:extLst>
              <a:ext uri="{FF2B5EF4-FFF2-40B4-BE49-F238E27FC236}">
                <a16:creationId xmlns:a16="http://schemas.microsoft.com/office/drawing/2014/main" id="{00240322-6439-648E-AAC9-56B702ECC538}"/>
              </a:ext>
            </a:extLst>
          </p:cNvPr>
          <p:cNvSpPr/>
          <p:nvPr/>
        </p:nvSpPr>
        <p:spPr>
          <a:xfrm>
            <a:off x="446671" y="39131840"/>
            <a:ext cx="14756248" cy="3091926"/>
          </a:xfrm>
          <a:prstGeom prst="rect">
            <a:avLst/>
          </a:prstGeom>
          <a:solidFill>
            <a:schemeClr val="accent1">
              <a:lumMod val="20000"/>
              <a:lumOff val="8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914400" lvl="1" indent="-457200">
              <a:buFont typeface="Arial" panose="020B0604020202020204" pitchFamily="34" charset="0"/>
              <a:buChar char="•"/>
            </a:pPr>
            <a:r>
              <a:rPr lang="en-US" sz="2800" dirty="0">
                <a:solidFill>
                  <a:schemeClr val="tx1"/>
                </a:solidFill>
              </a:rPr>
              <a:t>Steam cracking, iron &amp; steel sector have very large sites and have more heat intense processes ( &gt; 500°C) resulting in much higher heat loads. </a:t>
            </a:r>
          </a:p>
          <a:p>
            <a:pPr marL="914400" lvl="1" indent="-457200">
              <a:buFont typeface="Arial" panose="020B0604020202020204" pitchFamily="34" charset="0"/>
              <a:buChar char="•"/>
            </a:pPr>
            <a:r>
              <a:rPr lang="en-US" sz="2800" dirty="0">
                <a:solidFill>
                  <a:schemeClr val="tx1"/>
                </a:solidFill>
              </a:rPr>
              <a:t>These sectors require more hybrid solutions: increased land availability, utilizing grid electricity, co-firing with gas plants. </a:t>
            </a:r>
          </a:p>
          <a:p>
            <a:pPr marL="914400" lvl="1" indent="-457200">
              <a:buFont typeface="Arial" panose="020B0604020202020204" pitchFamily="34" charset="0"/>
              <a:buChar char="•"/>
            </a:pPr>
            <a:r>
              <a:rPr lang="en-US" sz="2800" dirty="0">
                <a:solidFill>
                  <a:schemeClr val="tx1"/>
                </a:solidFill>
              </a:rPr>
              <a:t>Even building up to the max savings point, solar plus storage can meet over 50% of the heat served. </a:t>
            </a:r>
          </a:p>
        </p:txBody>
      </p:sp>
      <p:sp>
        <p:nvSpPr>
          <p:cNvPr id="10" name="Down Arrow 9">
            <a:extLst>
              <a:ext uri="{FF2B5EF4-FFF2-40B4-BE49-F238E27FC236}">
                <a16:creationId xmlns:a16="http://schemas.microsoft.com/office/drawing/2014/main" id="{7EC6A8C3-C294-8791-D9F0-489AB371E69F}"/>
              </a:ext>
            </a:extLst>
          </p:cNvPr>
          <p:cNvSpPr/>
          <p:nvPr/>
        </p:nvSpPr>
        <p:spPr>
          <a:xfrm rot="10800000">
            <a:off x="18574175" y="26408118"/>
            <a:ext cx="760038" cy="613482"/>
          </a:xfrm>
          <a:prstGeom prst="down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own Arrow 10">
            <a:extLst>
              <a:ext uri="{FF2B5EF4-FFF2-40B4-BE49-F238E27FC236}">
                <a16:creationId xmlns:a16="http://schemas.microsoft.com/office/drawing/2014/main" id="{D3F5821F-EB70-130C-5E9B-D5A21C95F176}"/>
              </a:ext>
            </a:extLst>
          </p:cNvPr>
          <p:cNvSpPr/>
          <p:nvPr/>
        </p:nvSpPr>
        <p:spPr>
          <a:xfrm rot="10800000">
            <a:off x="25394672" y="31979088"/>
            <a:ext cx="760038" cy="613482"/>
          </a:xfrm>
          <a:prstGeom prst="down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own Arrow 11">
            <a:extLst>
              <a:ext uri="{FF2B5EF4-FFF2-40B4-BE49-F238E27FC236}">
                <a16:creationId xmlns:a16="http://schemas.microsoft.com/office/drawing/2014/main" id="{59626C87-8327-41A4-0D44-83CC5B5C76D7}"/>
              </a:ext>
            </a:extLst>
          </p:cNvPr>
          <p:cNvSpPr/>
          <p:nvPr/>
        </p:nvSpPr>
        <p:spPr>
          <a:xfrm rot="10800000">
            <a:off x="25486198" y="26656955"/>
            <a:ext cx="760038" cy="613482"/>
          </a:xfrm>
          <a:prstGeom prst="downArrow">
            <a:avLst/>
          </a:prstGeom>
          <a:solidFill>
            <a:schemeClr val="accent1"/>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Down Arrow 33">
            <a:extLst>
              <a:ext uri="{FF2B5EF4-FFF2-40B4-BE49-F238E27FC236}">
                <a16:creationId xmlns:a16="http://schemas.microsoft.com/office/drawing/2014/main" id="{48B8E4E9-F420-F9DC-E4F0-FA0086739DB8}"/>
              </a:ext>
            </a:extLst>
          </p:cNvPr>
          <p:cNvSpPr/>
          <p:nvPr/>
        </p:nvSpPr>
        <p:spPr>
          <a:xfrm rot="10800000">
            <a:off x="29006798" y="32713176"/>
            <a:ext cx="760038" cy="613482"/>
          </a:xfrm>
          <a:prstGeom prst="downArrow">
            <a:avLst/>
          </a:prstGeom>
          <a:solidFill>
            <a:schemeClr val="accent1"/>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FDD463F9-8F70-3A6A-32BC-1773E9E4ED6C}"/>
              </a:ext>
            </a:extLst>
          </p:cNvPr>
          <p:cNvSpPr txBox="1"/>
          <p:nvPr/>
        </p:nvSpPr>
        <p:spPr>
          <a:xfrm>
            <a:off x="544837" y="19938803"/>
            <a:ext cx="28883074" cy="769441"/>
          </a:xfrm>
          <a:prstGeom prst="rect">
            <a:avLst/>
          </a:prstGeom>
          <a:solidFill>
            <a:schemeClr val="accent1">
              <a:lumMod val="75000"/>
            </a:schemeClr>
          </a:solidFill>
        </p:spPr>
        <p:txBody>
          <a:bodyPr wrap="square" rtlCol="0">
            <a:spAutoFit/>
          </a:bodyPr>
          <a:lstStyle/>
          <a:p>
            <a:pPr algn="ctr"/>
            <a:r>
              <a:rPr lang="en-US" sz="4400" dirty="0">
                <a:solidFill>
                  <a:schemeClr val="bg1"/>
                </a:solidFill>
              </a:rPr>
              <a:t>Discussion</a:t>
            </a:r>
          </a:p>
        </p:txBody>
      </p:sp>
      <p:pic>
        <p:nvPicPr>
          <p:cNvPr id="9" name="Picture 8">
            <a:extLst>
              <a:ext uri="{FF2B5EF4-FFF2-40B4-BE49-F238E27FC236}">
                <a16:creationId xmlns:a16="http://schemas.microsoft.com/office/drawing/2014/main" id="{505CA3D8-0CFD-DF2B-0958-216B5A721D27}"/>
              </a:ext>
            </a:extLst>
          </p:cNvPr>
          <p:cNvPicPr>
            <a:picLocks noChangeAspect="1"/>
          </p:cNvPicPr>
          <p:nvPr/>
        </p:nvPicPr>
        <p:blipFill>
          <a:blip r:embed="rId9"/>
          <a:stretch>
            <a:fillRect/>
          </a:stretch>
        </p:blipFill>
        <p:spPr>
          <a:xfrm>
            <a:off x="1842894" y="20768485"/>
            <a:ext cx="12124321" cy="7968167"/>
          </a:xfrm>
          <a:prstGeom prst="rect">
            <a:avLst/>
          </a:prstGeom>
        </p:spPr>
      </p:pic>
      <p:pic>
        <p:nvPicPr>
          <p:cNvPr id="35" name="Picture 34">
            <a:extLst>
              <a:ext uri="{FF2B5EF4-FFF2-40B4-BE49-F238E27FC236}">
                <a16:creationId xmlns:a16="http://schemas.microsoft.com/office/drawing/2014/main" id="{2FC40A25-545F-24EB-2804-2AB61CB9B252}"/>
              </a:ext>
            </a:extLst>
          </p:cNvPr>
          <p:cNvPicPr>
            <a:picLocks noChangeAspect="1"/>
          </p:cNvPicPr>
          <p:nvPr/>
        </p:nvPicPr>
        <p:blipFill>
          <a:blip r:embed="rId10"/>
          <a:srcRect r="1431"/>
          <a:stretch>
            <a:fillRect/>
          </a:stretch>
        </p:blipFill>
        <p:spPr>
          <a:xfrm>
            <a:off x="897986" y="6142447"/>
            <a:ext cx="7609200" cy="6455542"/>
          </a:xfrm>
          <a:prstGeom prst="rect">
            <a:avLst/>
          </a:prstGeom>
        </p:spPr>
      </p:pic>
      <p:pic>
        <p:nvPicPr>
          <p:cNvPr id="38" name="Picture 37">
            <a:extLst>
              <a:ext uri="{FF2B5EF4-FFF2-40B4-BE49-F238E27FC236}">
                <a16:creationId xmlns:a16="http://schemas.microsoft.com/office/drawing/2014/main" id="{6C1FEC2D-AE6F-8CF5-0EED-181D75063C03}"/>
              </a:ext>
            </a:extLst>
          </p:cNvPr>
          <p:cNvPicPr>
            <a:picLocks noChangeAspect="1"/>
          </p:cNvPicPr>
          <p:nvPr/>
        </p:nvPicPr>
        <p:blipFill>
          <a:blip r:embed="rId11"/>
          <a:srcRect t="1" b="656"/>
          <a:stretch>
            <a:fillRect/>
          </a:stretch>
        </p:blipFill>
        <p:spPr>
          <a:xfrm>
            <a:off x="8946328" y="6161850"/>
            <a:ext cx="5569837" cy="6455541"/>
          </a:xfrm>
          <a:prstGeom prst="rect">
            <a:avLst/>
          </a:prstGeom>
        </p:spPr>
      </p:pic>
      <p:pic>
        <p:nvPicPr>
          <p:cNvPr id="40" name="Picture 39">
            <a:extLst>
              <a:ext uri="{FF2B5EF4-FFF2-40B4-BE49-F238E27FC236}">
                <a16:creationId xmlns:a16="http://schemas.microsoft.com/office/drawing/2014/main" id="{219098FF-EFFB-8FAD-9D9C-23478464C3E1}"/>
              </a:ext>
            </a:extLst>
          </p:cNvPr>
          <p:cNvPicPr>
            <a:picLocks noChangeAspect="1"/>
          </p:cNvPicPr>
          <p:nvPr/>
        </p:nvPicPr>
        <p:blipFill>
          <a:blip r:embed="rId12"/>
          <a:srcRect r="525"/>
          <a:stretch>
            <a:fillRect/>
          </a:stretch>
        </p:blipFill>
        <p:spPr>
          <a:xfrm>
            <a:off x="446671" y="31566602"/>
            <a:ext cx="14799134" cy="7130028"/>
          </a:xfrm>
          <a:prstGeom prst="rect">
            <a:avLst/>
          </a:prstGeom>
        </p:spPr>
      </p:pic>
    </p:spTree>
    <p:extLst>
      <p:ext uri="{BB962C8B-B14F-4D97-AF65-F5344CB8AC3E}">
        <p14:creationId xmlns:p14="http://schemas.microsoft.com/office/powerpoint/2010/main" val="384977114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11984</TotalTime>
  <Words>1457</Words>
  <Application>Microsoft Macintosh PowerPoint</Application>
  <PresentationFormat>Custom</PresentationFormat>
  <Paragraphs>94</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-apple-system</vt:lpstr>
      <vt:lpstr>Aptos</vt:lpstr>
      <vt:lpstr>Aptos Display</vt:lpstr>
      <vt:lpstr>Arial</vt:lpstr>
      <vt:lpstr>Calibri</vt:lpstr>
      <vt:lpstr>Courier New</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Anna Yuen</dc:creator>
  <cp:lastModifiedBy>Anna Yuen</cp:lastModifiedBy>
  <cp:revision>223</cp:revision>
  <dcterms:created xsi:type="dcterms:W3CDTF">2026-07-29T15:24:21Z</dcterms:created>
  <dcterms:modified xsi:type="dcterms:W3CDTF">2026-08-11T18:09:24Z</dcterms:modified>
</cp:coreProperties>
</file>